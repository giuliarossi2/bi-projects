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1"/>
  </p:notesMasterIdLst>
  <p:handoutMasterIdLst>
    <p:handoutMasterId r:id="rId32"/>
  </p:handoutMasterIdLst>
  <p:sldIdLst>
    <p:sldId id="287" r:id="rId5"/>
    <p:sldId id="279" r:id="rId6"/>
    <p:sldId id="294" r:id="rId7"/>
    <p:sldId id="321" r:id="rId8"/>
    <p:sldId id="317" r:id="rId9"/>
    <p:sldId id="318" r:id="rId10"/>
    <p:sldId id="319" r:id="rId11"/>
    <p:sldId id="292" r:id="rId12"/>
    <p:sldId id="288" r:id="rId13"/>
    <p:sldId id="289" r:id="rId14"/>
    <p:sldId id="293" r:id="rId15"/>
    <p:sldId id="290" r:id="rId16"/>
    <p:sldId id="309" r:id="rId17"/>
    <p:sldId id="291" r:id="rId18"/>
    <p:sldId id="301" r:id="rId19"/>
    <p:sldId id="302" r:id="rId20"/>
    <p:sldId id="303" r:id="rId21"/>
    <p:sldId id="307" r:id="rId22"/>
    <p:sldId id="308" r:id="rId23"/>
    <p:sldId id="315" r:id="rId24"/>
    <p:sldId id="320" r:id="rId25"/>
    <p:sldId id="310" r:id="rId26"/>
    <p:sldId id="311" r:id="rId27"/>
    <p:sldId id="313" r:id="rId28"/>
    <p:sldId id="305" r:id="rId29"/>
    <p:sldId id="31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1-Project Rossi Giulia" id="{B9B51309-D148-4332-87C2-07BE32FBCA3B}">
          <p14:sldIdLst>
            <p14:sldId id="287"/>
          </p14:sldIdLst>
        </p14:section>
        <p14:section name="Introduction" id="{7B673C24-B2A0-443F-8A65-1D47A6090423}">
          <p14:sldIdLst>
            <p14:sldId id="279"/>
          </p14:sldIdLst>
        </p14:section>
        <p14:section name="1.Join Reasons" id="{B611A3D0-689A-425D-9FF1-AD87BD9004A2}">
          <p14:sldIdLst>
            <p14:sldId id="294"/>
          </p14:sldIdLst>
        </p14:section>
        <p14:section name="2.Reduce Unit_ticket Table" id="{6CE0877C-555D-4B69-88D4-C4E6A7A2D493}">
          <p14:sldIdLst>
            <p14:sldId id="321"/>
          </p14:sldIdLst>
        </p14:section>
        <p14:section name="3.Goal Of the Analysis" id="{7AC05CDB-0DC1-457E-B9BE-5A56570879E9}">
          <p14:sldIdLst>
            <p14:sldId id="317"/>
          </p14:sldIdLst>
        </p14:section>
        <p14:section name="3.Dashboards" id="{854A2CC8-E942-49A1-813C-302CA4603AB4}">
          <p14:sldIdLst>
            <p14:sldId id="318"/>
          </p14:sldIdLst>
        </p14:section>
        <p14:section name="4.Indicators" id="{4D63AB34-11E4-4400-AE00-C3D222BC50D8}">
          <p14:sldIdLst>
            <p14:sldId id="319"/>
            <p14:sldId id="292"/>
            <p14:sldId id="288"/>
            <p14:sldId id="289"/>
            <p14:sldId id="293"/>
            <p14:sldId id="290"/>
          </p14:sldIdLst>
        </p14:section>
        <p14:section name="5.Analysis" id="{8AA02D10-02E5-4EFB-A79C-A8C3ED2DD004}">
          <p14:sldIdLst>
            <p14:sldId id="309"/>
            <p14:sldId id="291"/>
            <p14:sldId id="301"/>
            <p14:sldId id="302"/>
            <p14:sldId id="303"/>
            <p14:sldId id="307"/>
            <p14:sldId id="308"/>
            <p14:sldId id="315"/>
            <p14:sldId id="320"/>
            <p14:sldId id="310"/>
            <p14:sldId id="311"/>
            <p14:sldId id="313"/>
            <p14:sldId id="305"/>
          </p14:sldIdLst>
        </p14:section>
        <p14:section name="6.Conclusion" id="{7FD15374-A31B-4A3C-AD58-57297664D272}">
          <p14:sldIdLst>
            <p14:sldId id="31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241" autoAdjust="0"/>
  </p:normalViewPr>
  <p:slideViewPr>
    <p:cSldViewPr snapToGrid="0">
      <p:cViewPr varScale="1">
        <p:scale>
          <a:sx n="81" d="100"/>
          <a:sy n="81" d="100"/>
        </p:scale>
        <p:origin x="744"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2/28/2025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rtl="0"/>
            <a:fld id="{DF61EA0F-A667-4B49-8422-0062BC55E249}" type="slidenum">
              <a:rPr lang="it-IT" smtClean="0"/>
              <a:t>1</a:t>
            </a:fld>
            <a:endParaRPr lang="it-IT"/>
          </a:p>
        </p:txBody>
      </p:sp>
    </p:spTree>
    <p:extLst>
      <p:ext uri="{BB962C8B-B14F-4D97-AF65-F5344CB8AC3E}">
        <p14:creationId xmlns:p14="http://schemas.microsoft.com/office/powerpoint/2010/main" val="1533572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1562099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1751311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54CA9C0B-36BE-4F52-BDC1-FE8BEAD42613}" type="datetime1">
              <a:rPr lang="it-IT" smtClean="0"/>
              <a:t>28/02/2025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olo e contenuto">
    <p:spTree>
      <p:nvGrpSpPr>
        <p:cNvPr id="1" name=""/>
        <p:cNvGrpSpPr/>
        <p:nvPr/>
      </p:nvGrpSpPr>
      <p:grpSpPr>
        <a:xfrm>
          <a:off x="0" y="0"/>
          <a:ext cx="0" cy="0"/>
          <a:chOff x="0" y="0"/>
          <a:chExt cx="0" cy="0"/>
        </a:xfrm>
      </p:grpSpPr>
      <p:sp>
        <p:nvSpPr>
          <p:cNvPr id="9" name="Rettangolo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it-IT" sz="1800" noProof="0"/>
          </a:p>
        </p:txBody>
      </p:sp>
      <p:cxnSp>
        <p:nvCxnSpPr>
          <p:cNvPr id="12" name="Connettore diritto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olo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defRPr>
            </a:lvl1pPr>
          </a:lstStyle>
          <a:p>
            <a:pPr rtl="0"/>
            <a:r>
              <a:rPr lang="it-IT" noProof="0"/>
              <a:t>Fare clic per modificare lo stile del titolo dello schema</a:t>
            </a:r>
          </a:p>
        </p:txBody>
      </p:sp>
      <p:sp>
        <p:nvSpPr>
          <p:cNvPr id="3" name="Segnaposto contenuto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it-IT" noProof="0"/>
              <a:t>Fare clic per modificare lo stile del titolo</a:t>
            </a:r>
          </a:p>
          <a:p>
            <a:pPr marL="0" lvl="1" indent="0" rtl="0">
              <a:lnSpc>
                <a:spcPct val="150000"/>
              </a:lnSpc>
              <a:spcBef>
                <a:spcPts val="1000"/>
              </a:spcBef>
              <a:spcAft>
                <a:spcPts val="1200"/>
              </a:spcAft>
              <a:buNone/>
            </a:pPr>
            <a:r>
              <a:rPr lang="it-IT" noProof="0"/>
              <a:t>Secondo livello</a:t>
            </a:r>
          </a:p>
          <a:p>
            <a:pPr marL="0" lvl="2" indent="0" rtl="0">
              <a:lnSpc>
                <a:spcPct val="150000"/>
              </a:lnSpc>
              <a:spcBef>
                <a:spcPts val="1000"/>
              </a:spcBef>
              <a:spcAft>
                <a:spcPts val="1200"/>
              </a:spcAft>
              <a:buNone/>
            </a:pPr>
            <a:r>
              <a:rPr lang="it-IT" noProof="0"/>
              <a:t>Terzo livello</a:t>
            </a:r>
          </a:p>
          <a:p>
            <a:pPr marL="0" lvl="3" indent="0" rtl="0">
              <a:lnSpc>
                <a:spcPct val="150000"/>
              </a:lnSpc>
              <a:spcBef>
                <a:spcPts val="1000"/>
              </a:spcBef>
              <a:spcAft>
                <a:spcPts val="1200"/>
              </a:spcAft>
              <a:buNone/>
            </a:pPr>
            <a:r>
              <a:rPr lang="it-IT" noProof="0"/>
              <a:t>Quarto livello</a:t>
            </a:r>
          </a:p>
          <a:p>
            <a:pPr marL="0" lvl="4" indent="0" rtl="0">
              <a:lnSpc>
                <a:spcPct val="150000"/>
              </a:lnSpc>
              <a:spcBef>
                <a:spcPts val="1000"/>
              </a:spcBef>
              <a:spcAft>
                <a:spcPts val="1200"/>
              </a:spcAft>
              <a:buNone/>
            </a:pPr>
            <a:r>
              <a:rPr lang="it-IT" noProof="0"/>
              <a:t>Quinto livello</a:t>
            </a:r>
          </a:p>
        </p:txBody>
      </p:sp>
      <p:sp>
        <p:nvSpPr>
          <p:cNvPr id="6" name="Segnaposto data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78D88649-BE54-45C0-A0B8-FD541F940F70}" type="datetime1">
              <a:rPr lang="it-IT" noProof="0" smtClean="0"/>
              <a:t>28/02/2025</a:t>
            </a:fld>
            <a:endParaRPr lang="it-IT" noProof="0"/>
          </a:p>
        </p:txBody>
      </p:sp>
      <p:sp>
        <p:nvSpPr>
          <p:cNvPr id="7" name="Segnaposto piè di pagina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it-IT" noProof="0"/>
          </a:p>
        </p:txBody>
      </p:sp>
      <p:sp>
        <p:nvSpPr>
          <p:cNvPr id="8" name="Segnaposto numero diapositiva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it-IT" noProof="0" smtClean="0"/>
              <a:pPr rtl="0"/>
              <a:t>‹#›</a:t>
            </a:fld>
            <a:endParaRPr lang="it-IT" noProof="0"/>
          </a:p>
        </p:txBody>
      </p:sp>
    </p:spTree>
    <p:extLst>
      <p:ext uri="{BB962C8B-B14F-4D97-AF65-F5344CB8AC3E}">
        <p14:creationId xmlns:p14="http://schemas.microsoft.com/office/powerpoint/2010/main" val="22481882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68AAE0BE-4688-481B-B0AB-EB95952B55D1}" type="datetime1">
              <a:rPr lang="it-IT" smtClean="0"/>
              <a:t>28/02/2025</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30.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64105A1B-40B2-422D-66B6-A49A3C5A5AF8}"/>
              </a:ext>
            </a:extLst>
          </p:cNvPr>
          <p:cNvPicPr>
            <a:picLocks noChangeAspect="1"/>
          </p:cNvPicPr>
          <p:nvPr/>
        </p:nvPicPr>
        <p:blipFill>
          <a:blip r:embed="rId3"/>
          <a:stretch>
            <a:fillRect/>
          </a:stretch>
        </p:blipFill>
        <p:spPr>
          <a:xfrm>
            <a:off x="3328330" y="1288213"/>
            <a:ext cx="2681009" cy="2937215"/>
          </a:xfrm>
          <a:prstGeom prst="rect">
            <a:avLst/>
          </a:prstGeom>
        </p:spPr>
      </p:pic>
      <p:sp>
        <p:nvSpPr>
          <p:cNvPr id="6" name="CasellaDiTesto 5">
            <a:extLst>
              <a:ext uri="{FF2B5EF4-FFF2-40B4-BE49-F238E27FC236}">
                <a16:creationId xmlns:a16="http://schemas.microsoft.com/office/drawing/2014/main" id="{0879034A-90CC-519E-002D-9C2466F69B41}"/>
              </a:ext>
            </a:extLst>
          </p:cNvPr>
          <p:cNvSpPr txBox="1"/>
          <p:nvPr/>
        </p:nvSpPr>
        <p:spPr>
          <a:xfrm>
            <a:off x="7633979" y="675017"/>
            <a:ext cx="4003167" cy="523220"/>
          </a:xfrm>
          <a:prstGeom prst="rect">
            <a:avLst/>
          </a:prstGeom>
          <a:noFill/>
        </p:spPr>
        <p:txBody>
          <a:bodyPr wrap="square">
            <a:spAutoFit/>
          </a:bodyPr>
          <a:lstStyle/>
          <a:p>
            <a:pPr algn="r"/>
            <a:r>
              <a:rPr lang="it-IT" sz="1400" b="1" i="0" u="none" strike="noStrike" baseline="0" dirty="0">
                <a:latin typeface="+mj-lt"/>
              </a:rPr>
              <a:t>Authors: </a:t>
            </a:r>
            <a:r>
              <a:rPr lang="it-IT" sz="1400" i="0" u="none" strike="noStrike" baseline="0" dirty="0">
                <a:latin typeface="+mj-lt"/>
              </a:rPr>
              <a:t>Giulia Rossi</a:t>
            </a:r>
          </a:p>
          <a:p>
            <a:pPr algn="r"/>
            <a:r>
              <a:rPr lang="it-IT" sz="1400" b="1" i="0" u="none" strike="noStrike" baseline="0" dirty="0">
                <a:latin typeface="+mj-lt"/>
              </a:rPr>
              <a:t>Academic year: </a:t>
            </a:r>
            <a:r>
              <a:rPr lang="it-IT" sz="1400" b="0" i="0" u="none" strike="noStrike" baseline="0" dirty="0">
                <a:latin typeface="+mj-lt"/>
              </a:rPr>
              <a:t>2024-2025</a:t>
            </a:r>
            <a:endParaRPr lang="it-IT" sz="1400" dirty="0">
              <a:latin typeface="+mj-lt"/>
            </a:endParaRPr>
          </a:p>
        </p:txBody>
      </p:sp>
      <p:sp>
        <p:nvSpPr>
          <p:cNvPr id="7" name="AutoShape 2">
            <a:extLst>
              <a:ext uri="{FF2B5EF4-FFF2-40B4-BE49-F238E27FC236}">
                <a16:creationId xmlns:a16="http://schemas.microsoft.com/office/drawing/2014/main" id="{7AE3A9DA-6C63-0CC1-BD5B-615D9ABB2B1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3" name="Titolo 2">
            <a:extLst>
              <a:ext uri="{FF2B5EF4-FFF2-40B4-BE49-F238E27FC236}">
                <a16:creationId xmlns:a16="http://schemas.microsoft.com/office/drawing/2014/main" id="{60BEF548-5E19-DB64-649A-32B5D3141FE7}"/>
              </a:ext>
            </a:extLst>
          </p:cNvPr>
          <p:cNvSpPr>
            <a:spLocks noGrp="1"/>
          </p:cNvSpPr>
          <p:nvPr>
            <p:ph type="title"/>
          </p:nvPr>
        </p:nvSpPr>
        <p:spPr>
          <a:xfrm>
            <a:off x="554854" y="573609"/>
            <a:ext cx="6877119" cy="1038687"/>
          </a:xfrm>
        </p:spPr>
        <p:txBody>
          <a:bodyPr>
            <a:noAutofit/>
          </a:bodyPr>
          <a:lstStyle/>
          <a:p>
            <a:br>
              <a:rPr lang="en-US" sz="3200" dirty="0"/>
            </a:br>
            <a:br>
              <a:rPr lang="en-US" sz="3200" dirty="0"/>
            </a:br>
            <a:br>
              <a:rPr lang="en-US" sz="3200" dirty="0"/>
            </a:br>
            <a:br>
              <a:rPr lang="en-US" sz="3200" dirty="0"/>
            </a:br>
            <a:br>
              <a:rPr lang="en-US" sz="3200" dirty="0"/>
            </a:br>
            <a:r>
              <a:rPr lang="en-US" sz="3200" dirty="0" err="1"/>
              <a:t>BI1</a:t>
            </a:r>
            <a:r>
              <a:rPr lang="en-US" sz="3200" dirty="0"/>
              <a:t>-Project</a:t>
            </a:r>
            <a:br>
              <a:rPr lang="it-IT" sz="3200" kern="100" dirty="0">
                <a:effectLst/>
                <a:latin typeface="Calibri" panose="020F0502020204030204" pitchFamily="34" charset="0"/>
                <a:ea typeface="Calibri" panose="020F0502020204030204" pitchFamily="34" charset="0"/>
                <a:cs typeface="Times New Roman" panose="02020603050405020304" pitchFamily="18" charset="0"/>
              </a:rPr>
            </a:br>
            <a:endParaRPr lang="it-IT" sz="3200" dirty="0"/>
          </a:p>
        </p:txBody>
      </p:sp>
      <p:sp>
        <p:nvSpPr>
          <p:cNvPr id="12" name="AutoShape 2">
            <a:extLst>
              <a:ext uri="{FF2B5EF4-FFF2-40B4-BE49-F238E27FC236}">
                <a16:creationId xmlns:a16="http://schemas.microsoft.com/office/drawing/2014/main" id="{A91A0C25-81F3-72CD-0148-E1662E69B8A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pic>
        <p:nvPicPr>
          <p:cNvPr id="26" name="Picture 25">
            <a:extLst>
              <a:ext uri="{FF2B5EF4-FFF2-40B4-BE49-F238E27FC236}">
                <a16:creationId xmlns:a16="http://schemas.microsoft.com/office/drawing/2014/main" id="{B26C2D49-A00B-B59B-C857-60B96CADC3D4}"/>
              </a:ext>
            </a:extLst>
          </p:cNvPr>
          <p:cNvPicPr>
            <a:picLocks noChangeAspect="1"/>
          </p:cNvPicPr>
          <p:nvPr/>
        </p:nvPicPr>
        <p:blipFill>
          <a:blip r:embed="rId4"/>
          <a:stretch>
            <a:fillRect/>
          </a:stretch>
        </p:blipFill>
        <p:spPr>
          <a:xfrm>
            <a:off x="565805" y="1290644"/>
            <a:ext cx="2975248" cy="2872654"/>
          </a:xfrm>
          <a:prstGeom prst="rect">
            <a:avLst/>
          </a:prstGeom>
        </p:spPr>
      </p:pic>
      <p:pic>
        <p:nvPicPr>
          <p:cNvPr id="20" name="Picture 19">
            <a:extLst>
              <a:ext uri="{FF2B5EF4-FFF2-40B4-BE49-F238E27FC236}">
                <a16:creationId xmlns:a16="http://schemas.microsoft.com/office/drawing/2014/main" id="{5988F6D8-22A1-9A42-85B1-8371AF0413C4}"/>
              </a:ext>
            </a:extLst>
          </p:cNvPr>
          <p:cNvPicPr>
            <a:picLocks noChangeAspect="1"/>
          </p:cNvPicPr>
          <p:nvPr/>
        </p:nvPicPr>
        <p:blipFill>
          <a:blip r:embed="rId5"/>
          <a:stretch>
            <a:fillRect/>
          </a:stretch>
        </p:blipFill>
        <p:spPr>
          <a:xfrm>
            <a:off x="4932157" y="1281992"/>
            <a:ext cx="4589946" cy="2999370"/>
          </a:xfrm>
          <a:prstGeom prst="rect">
            <a:avLst/>
          </a:prstGeom>
        </p:spPr>
      </p:pic>
      <p:pic>
        <p:nvPicPr>
          <p:cNvPr id="22" name="Picture 21">
            <a:extLst>
              <a:ext uri="{FF2B5EF4-FFF2-40B4-BE49-F238E27FC236}">
                <a16:creationId xmlns:a16="http://schemas.microsoft.com/office/drawing/2014/main" id="{0692D166-F28B-0152-21FB-BF109105BDEB}"/>
              </a:ext>
            </a:extLst>
          </p:cNvPr>
          <p:cNvPicPr>
            <a:picLocks noChangeAspect="1"/>
          </p:cNvPicPr>
          <p:nvPr/>
        </p:nvPicPr>
        <p:blipFill>
          <a:blip r:embed="rId6"/>
          <a:stretch>
            <a:fillRect/>
          </a:stretch>
        </p:blipFill>
        <p:spPr>
          <a:xfrm>
            <a:off x="8903218" y="1273083"/>
            <a:ext cx="2439244" cy="3999136"/>
          </a:xfrm>
          <a:prstGeom prst="rect">
            <a:avLst/>
          </a:prstGeom>
        </p:spPr>
      </p:pic>
      <p:pic>
        <p:nvPicPr>
          <p:cNvPr id="30" name="Picture 29">
            <a:extLst>
              <a:ext uri="{FF2B5EF4-FFF2-40B4-BE49-F238E27FC236}">
                <a16:creationId xmlns:a16="http://schemas.microsoft.com/office/drawing/2014/main" id="{4C6DEEAD-2600-F214-DFBE-9F2A40B07DA5}"/>
              </a:ext>
            </a:extLst>
          </p:cNvPr>
          <p:cNvPicPr>
            <a:picLocks noChangeAspect="1"/>
          </p:cNvPicPr>
          <p:nvPr/>
        </p:nvPicPr>
        <p:blipFill>
          <a:blip r:embed="rId7"/>
          <a:stretch>
            <a:fillRect/>
          </a:stretch>
        </p:blipFill>
        <p:spPr>
          <a:xfrm>
            <a:off x="554854" y="4198679"/>
            <a:ext cx="6693986" cy="2182943"/>
          </a:xfrm>
          <a:prstGeom prst="rect">
            <a:avLst/>
          </a:prstGeom>
        </p:spPr>
      </p:pic>
      <p:pic>
        <p:nvPicPr>
          <p:cNvPr id="39" name="Picture 38">
            <a:extLst>
              <a:ext uri="{FF2B5EF4-FFF2-40B4-BE49-F238E27FC236}">
                <a16:creationId xmlns:a16="http://schemas.microsoft.com/office/drawing/2014/main" id="{702C5E11-5190-083D-8201-9632CA8DBB15}"/>
              </a:ext>
            </a:extLst>
          </p:cNvPr>
          <p:cNvPicPr>
            <a:picLocks noChangeAspect="1"/>
          </p:cNvPicPr>
          <p:nvPr/>
        </p:nvPicPr>
        <p:blipFill>
          <a:blip r:embed="rId8"/>
          <a:stretch>
            <a:fillRect/>
          </a:stretch>
        </p:blipFill>
        <p:spPr>
          <a:xfrm>
            <a:off x="7087526" y="3951058"/>
            <a:ext cx="4260773" cy="2430564"/>
          </a:xfrm>
          <a:prstGeom prst="rect">
            <a:avLst/>
          </a:prstGeom>
        </p:spPr>
      </p:pic>
      <p:sp>
        <p:nvSpPr>
          <p:cNvPr id="4" name="TextBox 3">
            <a:extLst>
              <a:ext uri="{FF2B5EF4-FFF2-40B4-BE49-F238E27FC236}">
                <a16:creationId xmlns:a16="http://schemas.microsoft.com/office/drawing/2014/main" id="{D6F32839-7B9F-7548-AF97-814851D9AD0B}"/>
              </a:ext>
            </a:extLst>
          </p:cNvPr>
          <p:cNvSpPr txBox="1"/>
          <p:nvPr/>
        </p:nvSpPr>
        <p:spPr>
          <a:xfrm>
            <a:off x="1517595" y="3059405"/>
            <a:ext cx="9081140" cy="1938992"/>
          </a:xfrm>
          <a:prstGeom prst="rect">
            <a:avLst/>
          </a:prstGeom>
          <a:noFill/>
        </p:spPr>
        <p:txBody>
          <a:bodyPr wrap="square">
            <a:spAutoFit/>
          </a:bodyPr>
          <a:lstStyle/>
          <a:p>
            <a:pPr algn="ctr"/>
            <a:r>
              <a:rPr lang="en-US" sz="6000" b="1" dirty="0">
                <a:solidFill>
                  <a:srgbClr val="002060"/>
                </a:solidFill>
                <a:latin typeface="+mj-lt"/>
              </a:rPr>
              <a:t>Who and What Contributed to the Margin Reduction?</a:t>
            </a:r>
          </a:p>
        </p:txBody>
      </p:sp>
      <p:sp>
        <p:nvSpPr>
          <p:cNvPr id="5" name="Slide Number Placeholder 4">
            <a:extLst>
              <a:ext uri="{FF2B5EF4-FFF2-40B4-BE49-F238E27FC236}">
                <a16:creationId xmlns:a16="http://schemas.microsoft.com/office/drawing/2014/main" id="{82DE27FC-4DD9-BD28-AB14-7223B6542343}"/>
              </a:ext>
            </a:extLst>
          </p:cNvPr>
          <p:cNvSpPr>
            <a:spLocks noGrp="1"/>
          </p:cNvSpPr>
          <p:nvPr>
            <p:ph type="sldNum" sz="quarter" idx="4"/>
          </p:nvPr>
        </p:nvSpPr>
        <p:spPr/>
        <p:txBody>
          <a:bodyPr/>
          <a:lstStyle/>
          <a:p>
            <a:pPr rtl="0"/>
            <a:fld id="{9860EDB8-5305-433F-BE41-D7A86D811DB3}" type="slidenum">
              <a:rPr lang="it-IT" noProof="0" smtClean="0"/>
              <a:pPr rtl="0"/>
              <a:t>1</a:t>
            </a:fld>
            <a:endParaRPr lang="it-IT" noProof="0"/>
          </a:p>
        </p:txBody>
      </p:sp>
    </p:spTree>
    <p:extLst>
      <p:ext uri="{BB962C8B-B14F-4D97-AF65-F5344CB8AC3E}">
        <p14:creationId xmlns:p14="http://schemas.microsoft.com/office/powerpoint/2010/main" val="3467535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Introduction</a:t>
            </a:r>
          </a:p>
        </p:txBody>
      </p:sp>
      <p:grpSp>
        <p:nvGrpSpPr>
          <p:cNvPr id="18" name="Group 17" descr="Small circle with number 1 inside  indicating step 1"/>
          <p:cNvGrpSpPr/>
          <p:nvPr/>
        </p:nvGrpSpPr>
        <p:grpSpPr bwMode="blackWhite">
          <a:xfrm>
            <a:off x="682377" y="1409580"/>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1</a:t>
              </a:r>
            </a:p>
          </p:txBody>
        </p:sp>
      </p:grpSp>
      <p:sp>
        <p:nvSpPr>
          <p:cNvPr id="21" name="Content Placeholder 17"/>
          <p:cNvSpPr txBox="1">
            <a:spLocks/>
          </p:cNvSpPr>
          <p:nvPr/>
        </p:nvSpPr>
        <p:spPr>
          <a:xfrm>
            <a:off x="1240556" y="1495746"/>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800" dirty="0">
                <a:latin typeface="Calibri" panose="020F0502020204030204" pitchFamily="34" charset="0"/>
                <a:cs typeface="Calibri" panose="020F0502020204030204" pitchFamily="34" charset="0"/>
              </a:rPr>
              <a:t>Join Reasons</a:t>
            </a:r>
            <a:endParaRPr lang="en-US" sz="1800" dirty="0">
              <a:solidFill>
                <a:prstClr val="black">
                  <a:lumMod val="75000"/>
                  <a:lumOff val="25000"/>
                </a:prstClr>
              </a:solidFill>
              <a:latin typeface="Calibri" panose="020F0502020204030204" pitchFamily="34" charset="0"/>
              <a:cs typeface="Calibri" panose="020F0502020204030204" pitchFamily="34" charset="0"/>
            </a:endParaRPr>
          </a:p>
        </p:txBody>
      </p:sp>
      <p:grpSp>
        <p:nvGrpSpPr>
          <p:cNvPr id="33" name="Group 32" descr="Small circle with number 2 inside  indicating step 2"/>
          <p:cNvGrpSpPr/>
          <p:nvPr/>
        </p:nvGrpSpPr>
        <p:grpSpPr bwMode="blackWhite">
          <a:xfrm>
            <a:off x="682377" y="2106676"/>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2</a:t>
              </a:r>
            </a:p>
          </p:txBody>
        </p:sp>
      </p:grpSp>
      <p:sp>
        <p:nvSpPr>
          <p:cNvPr id="36" name="Content Placeholder 17"/>
          <p:cNvSpPr txBox="1">
            <a:spLocks/>
          </p:cNvSpPr>
          <p:nvPr/>
        </p:nvSpPr>
        <p:spPr>
          <a:xfrm>
            <a:off x="1194337" y="2128779"/>
            <a:ext cx="5021489" cy="509294"/>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sz="1800" dirty="0">
                <a:latin typeface="Calibri" panose="020F0502020204030204" pitchFamily="34" charset="0"/>
                <a:cs typeface="Calibri" panose="020F0502020204030204" pitchFamily="34" charset="0"/>
              </a:rPr>
              <a:t>Brief explanation of the modified </a:t>
            </a:r>
            <a:r>
              <a:rPr lang="en-US" sz="1800" b="1" dirty="0" err="1">
                <a:latin typeface="Calibri" panose="020F0502020204030204" pitchFamily="34" charset="0"/>
                <a:cs typeface="Calibri" panose="020F0502020204030204" pitchFamily="34" charset="0"/>
              </a:rPr>
              <a:t>unit_tickets</a:t>
            </a:r>
            <a:r>
              <a:rPr lang="en-US" sz="1800" b="1" dirty="0">
                <a:latin typeface="Calibri" panose="020F0502020204030204" pitchFamily="34" charset="0"/>
                <a:cs typeface="Calibri" panose="020F0502020204030204" pitchFamily="34" charset="0"/>
              </a:rPr>
              <a:t> table</a:t>
            </a:r>
            <a:endParaRPr lang="en-US" sz="1800" dirty="0">
              <a:solidFill>
                <a:prstClr val="black">
                  <a:lumMod val="75000"/>
                  <a:lumOff val="25000"/>
                </a:prstClr>
              </a:solidFill>
              <a:latin typeface="Calibri" panose="020F0502020204030204" pitchFamily="34" charset="0"/>
              <a:cs typeface="Calibri" panose="020F0502020204030204" pitchFamily="34" charset="0"/>
            </a:endParaRPr>
          </a:p>
        </p:txBody>
      </p:sp>
      <p:grpSp>
        <p:nvGrpSpPr>
          <p:cNvPr id="22" name="Group 21" descr="Small circle with number 3 inside  indicating step 3"/>
          <p:cNvGrpSpPr/>
          <p:nvPr/>
        </p:nvGrpSpPr>
        <p:grpSpPr bwMode="blackWhite">
          <a:xfrm>
            <a:off x="671173" y="2783462"/>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3</a:t>
              </a:r>
            </a:p>
          </p:txBody>
        </p:sp>
      </p:grpSp>
      <p:sp>
        <p:nvSpPr>
          <p:cNvPr id="32" name="Content Placeholder 17"/>
          <p:cNvSpPr txBox="1">
            <a:spLocks/>
          </p:cNvSpPr>
          <p:nvPr/>
        </p:nvSpPr>
        <p:spPr>
          <a:xfrm>
            <a:off x="1190057" y="2845063"/>
            <a:ext cx="5875766" cy="51963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800" dirty="0">
                <a:latin typeface="Calibri" panose="020F0502020204030204" pitchFamily="34" charset="0"/>
                <a:cs typeface="Calibri" panose="020F0502020204030204" pitchFamily="34" charset="0"/>
              </a:rPr>
              <a:t>Goal of the analysis and Introduction to the Dashboards</a:t>
            </a:r>
            <a:endParaRPr lang="en-US" sz="1800" dirty="0">
              <a:solidFill>
                <a:prstClr val="black">
                  <a:lumMod val="75000"/>
                  <a:lumOff val="25000"/>
                </a:prstClr>
              </a:solidFill>
              <a:latin typeface="Calibri" panose="020F0502020204030204" pitchFamily="34" charset="0"/>
              <a:cs typeface="Calibri" panose="020F0502020204030204" pitchFamily="34" charset="0"/>
            </a:endParaRPr>
          </a:p>
        </p:txBody>
      </p:sp>
      <p:grpSp>
        <p:nvGrpSpPr>
          <p:cNvPr id="11" name="Group 10" descr="Small circle with number 1 inside  indicating step 1">
            <a:extLst>
              <a:ext uri="{FF2B5EF4-FFF2-40B4-BE49-F238E27FC236}">
                <a16:creationId xmlns:a16="http://schemas.microsoft.com/office/drawing/2014/main" id="{237D0FAB-3D79-45E9-77D4-0FF013C0EAC3}"/>
              </a:ext>
            </a:extLst>
          </p:cNvPr>
          <p:cNvGrpSpPr/>
          <p:nvPr/>
        </p:nvGrpSpPr>
        <p:grpSpPr bwMode="blackWhite">
          <a:xfrm>
            <a:off x="673745" y="3441643"/>
            <a:ext cx="558179" cy="409838"/>
            <a:chOff x="6953426" y="711274"/>
            <a:chExt cx="558179" cy="409838"/>
          </a:xfrm>
        </p:grpSpPr>
        <p:sp>
          <p:nvSpPr>
            <p:cNvPr id="12" name="Oval 11" descr="Small circle">
              <a:extLst>
                <a:ext uri="{FF2B5EF4-FFF2-40B4-BE49-F238E27FC236}">
                  <a16:creationId xmlns:a16="http://schemas.microsoft.com/office/drawing/2014/main" id="{13F4380B-1E1F-6801-118D-999F7C4601F6}"/>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 name="TextBox 12" descr="Number 1">
              <a:extLst>
                <a:ext uri="{FF2B5EF4-FFF2-40B4-BE49-F238E27FC236}">
                  <a16:creationId xmlns:a16="http://schemas.microsoft.com/office/drawing/2014/main" id="{9ACACB6F-2FC3-0F91-D400-DBAAEBB626F5}"/>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it-IT" dirty="0">
                  <a:solidFill>
                    <a:schemeClr val="bg1"/>
                  </a:solidFill>
                  <a:latin typeface="Calibri" panose="020F0502020204030204" pitchFamily="34" charset="0"/>
                  <a:cs typeface="Calibri" panose="020F0502020204030204" pitchFamily="34" charset="0"/>
                </a:rPr>
                <a:t>4</a:t>
              </a:r>
              <a:endParaRPr lang="en-US" dirty="0">
                <a:solidFill>
                  <a:schemeClr val="bg1"/>
                </a:solidFill>
                <a:latin typeface="Calibri" panose="020F0502020204030204" pitchFamily="34" charset="0"/>
                <a:cs typeface="Calibri" panose="020F0502020204030204" pitchFamily="34" charset="0"/>
              </a:endParaRPr>
            </a:p>
          </p:txBody>
        </p:sp>
      </p:grpSp>
      <p:sp>
        <p:nvSpPr>
          <p:cNvPr id="14" name="Content Placeholder 17">
            <a:extLst>
              <a:ext uri="{FF2B5EF4-FFF2-40B4-BE49-F238E27FC236}">
                <a16:creationId xmlns:a16="http://schemas.microsoft.com/office/drawing/2014/main" id="{CE43BDD1-2AB5-2B22-6BD7-490E29397418}"/>
              </a:ext>
            </a:extLst>
          </p:cNvPr>
          <p:cNvSpPr txBox="1">
            <a:spLocks/>
          </p:cNvSpPr>
          <p:nvPr/>
        </p:nvSpPr>
        <p:spPr>
          <a:xfrm>
            <a:off x="1235262" y="3452322"/>
            <a:ext cx="4980565" cy="20416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800" dirty="0">
                <a:latin typeface="Calibri" panose="020F0502020204030204" pitchFamily="34" charset="0"/>
                <a:cs typeface="Calibri" panose="020F0502020204030204" pitchFamily="34" charset="0"/>
              </a:rPr>
              <a:t>Indicators: </a:t>
            </a:r>
          </a:p>
          <a:p>
            <a:pPr marL="0" indent="0">
              <a:spcAft>
                <a:spcPts val="600"/>
              </a:spcAft>
              <a:buNone/>
              <a:defRPr/>
            </a:pPr>
            <a:r>
              <a:rPr lang="en-US" sz="1600" dirty="0">
                <a:latin typeface="Calibri" panose="020F0502020204030204" pitchFamily="34" charset="0"/>
                <a:cs typeface="Calibri" panose="020F0502020204030204" pitchFamily="34" charset="0"/>
              </a:rPr>
              <a:t>4.1. Key indicators</a:t>
            </a:r>
          </a:p>
          <a:p>
            <a:pPr marL="0" indent="0">
              <a:spcAft>
                <a:spcPts val="600"/>
              </a:spcAft>
              <a:buNone/>
              <a:defRPr/>
            </a:pPr>
            <a:r>
              <a:rPr lang="en-US" sz="1600" dirty="0">
                <a:latin typeface="Calibri" panose="020F0502020204030204" pitchFamily="34" charset="0"/>
                <a:cs typeface="Calibri" panose="020F0502020204030204" pitchFamily="34" charset="0"/>
              </a:rPr>
              <a:t>4.2. Stores and Products indicators</a:t>
            </a:r>
          </a:p>
          <a:p>
            <a:pPr marL="0" indent="0">
              <a:spcAft>
                <a:spcPts val="600"/>
              </a:spcAft>
              <a:buNone/>
              <a:defRPr/>
            </a:pPr>
            <a:r>
              <a:rPr lang="en-US" sz="1600" dirty="0">
                <a:latin typeface="Calibri" panose="020F0502020204030204" pitchFamily="34" charset="0"/>
                <a:cs typeface="Calibri" panose="020F0502020204030204" pitchFamily="34" charset="0"/>
              </a:rPr>
              <a:t>4.3. Customer indicators</a:t>
            </a:r>
            <a:endParaRPr lang="en-US" sz="1600" dirty="0">
              <a:solidFill>
                <a:prstClr val="black">
                  <a:lumMod val="75000"/>
                  <a:lumOff val="25000"/>
                </a:prstClr>
              </a:solidFill>
              <a:latin typeface="Calibri" panose="020F0502020204030204" pitchFamily="34" charset="0"/>
              <a:cs typeface="Calibri" panose="020F0502020204030204" pitchFamily="34" charset="0"/>
            </a:endParaRPr>
          </a:p>
        </p:txBody>
      </p:sp>
      <p:grpSp>
        <p:nvGrpSpPr>
          <p:cNvPr id="15" name="Group 14" descr="Small circle with number 2 inside  indicating step 2">
            <a:extLst>
              <a:ext uri="{FF2B5EF4-FFF2-40B4-BE49-F238E27FC236}">
                <a16:creationId xmlns:a16="http://schemas.microsoft.com/office/drawing/2014/main" id="{7BBCC5DE-5473-9326-952E-849A29B224EF}"/>
              </a:ext>
            </a:extLst>
          </p:cNvPr>
          <p:cNvGrpSpPr/>
          <p:nvPr/>
        </p:nvGrpSpPr>
        <p:grpSpPr bwMode="blackWhite">
          <a:xfrm>
            <a:off x="697291" y="5117599"/>
            <a:ext cx="558179" cy="409838"/>
            <a:chOff x="6953426" y="711274"/>
            <a:chExt cx="558179" cy="409838"/>
          </a:xfrm>
        </p:grpSpPr>
        <p:sp>
          <p:nvSpPr>
            <p:cNvPr id="16" name="Oval 15" descr="Small circle">
              <a:extLst>
                <a:ext uri="{FF2B5EF4-FFF2-40B4-BE49-F238E27FC236}">
                  <a16:creationId xmlns:a16="http://schemas.microsoft.com/office/drawing/2014/main" id="{0292F15C-9D55-DB2C-42BC-EF91F6D87B82}"/>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descr="Number 2">
              <a:extLst>
                <a:ext uri="{FF2B5EF4-FFF2-40B4-BE49-F238E27FC236}">
                  <a16:creationId xmlns:a16="http://schemas.microsoft.com/office/drawing/2014/main" id="{777758E3-601A-FCE8-5DD3-5074398C7BC9}"/>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it-IT" dirty="0">
                  <a:solidFill>
                    <a:schemeClr val="bg1"/>
                  </a:solidFill>
                  <a:latin typeface="Calibri" panose="020F0502020204030204" pitchFamily="34" charset="0"/>
                  <a:cs typeface="Calibri" panose="020F0502020204030204" pitchFamily="34" charset="0"/>
                </a:rPr>
                <a:t>5</a:t>
              </a:r>
              <a:endParaRPr lang="en-US" dirty="0">
                <a:solidFill>
                  <a:schemeClr val="bg1"/>
                </a:solidFill>
                <a:latin typeface="Calibri" panose="020F0502020204030204" pitchFamily="34" charset="0"/>
                <a:cs typeface="Calibri" panose="020F0502020204030204" pitchFamily="34" charset="0"/>
              </a:endParaRPr>
            </a:p>
          </p:txBody>
        </p:sp>
      </p:grpSp>
      <p:sp>
        <p:nvSpPr>
          <p:cNvPr id="26" name="Content Placeholder 17">
            <a:extLst>
              <a:ext uri="{FF2B5EF4-FFF2-40B4-BE49-F238E27FC236}">
                <a16:creationId xmlns:a16="http://schemas.microsoft.com/office/drawing/2014/main" id="{2C7FFA2F-DC40-333B-81EE-95FB82248B54}"/>
              </a:ext>
            </a:extLst>
          </p:cNvPr>
          <p:cNvSpPr txBox="1">
            <a:spLocks/>
          </p:cNvSpPr>
          <p:nvPr/>
        </p:nvSpPr>
        <p:spPr>
          <a:xfrm>
            <a:off x="1190058" y="5164800"/>
            <a:ext cx="7048970" cy="36933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it-IT" sz="1800" dirty="0">
                <a:solidFill>
                  <a:prstClr val="black">
                    <a:lumMod val="75000"/>
                    <a:lumOff val="25000"/>
                  </a:prstClr>
                </a:solidFill>
                <a:latin typeface="Calibri" panose="020F0502020204030204" pitchFamily="34" charset="0"/>
                <a:cs typeface="Calibri" panose="020F0502020204030204" pitchFamily="34" charset="0"/>
              </a:rPr>
              <a:t>Interactive Storytelling-&gt;</a:t>
            </a:r>
            <a:r>
              <a:rPr lang="en-US" sz="1800" dirty="0">
                <a:solidFill>
                  <a:prstClr val="black">
                    <a:lumMod val="75000"/>
                    <a:lumOff val="25000"/>
                  </a:prstClr>
                </a:solidFill>
                <a:latin typeface="Calibri" panose="020F0502020204030204" pitchFamily="34" charset="0"/>
                <a:cs typeface="Calibri" panose="020F0502020204030204" pitchFamily="34" charset="0"/>
              </a:rPr>
              <a:t>Identifying the Causes of Margin Reduction</a:t>
            </a:r>
          </a:p>
        </p:txBody>
      </p:sp>
      <p:grpSp>
        <p:nvGrpSpPr>
          <p:cNvPr id="27" name="Group 26" descr="Small circle with number 3 inside  indicating step 3">
            <a:extLst>
              <a:ext uri="{FF2B5EF4-FFF2-40B4-BE49-F238E27FC236}">
                <a16:creationId xmlns:a16="http://schemas.microsoft.com/office/drawing/2014/main" id="{8A081E5D-00B6-B7C1-60D7-E7EF5A6379C7}"/>
              </a:ext>
            </a:extLst>
          </p:cNvPr>
          <p:cNvGrpSpPr/>
          <p:nvPr/>
        </p:nvGrpSpPr>
        <p:grpSpPr bwMode="blackWhite">
          <a:xfrm>
            <a:off x="665096" y="5737014"/>
            <a:ext cx="558179" cy="409838"/>
            <a:chOff x="6953426" y="711274"/>
            <a:chExt cx="558179" cy="409838"/>
          </a:xfrm>
        </p:grpSpPr>
        <p:sp>
          <p:nvSpPr>
            <p:cNvPr id="28" name="Oval 27" descr="Small circle">
              <a:extLst>
                <a:ext uri="{FF2B5EF4-FFF2-40B4-BE49-F238E27FC236}">
                  <a16:creationId xmlns:a16="http://schemas.microsoft.com/office/drawing/2014/main" id="{3B78ADE3-372A-B6D0-288A-818E53A4DC93}"/>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1" name="TextBox 30" descr="Number 3">
              <a:extLst>
                <a:ext uri="{FF2B5EF4-FFF2-40B4-BE49-F238E27FC236}">
                  <a16:creationId xmlns:a16="http://schemas.microsoft.com/office/drawing/2014/main" id="{CA5CEFD4-AB0D-578C-461A-B83C29038C8C}"/>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it-IT" dirty="0">
                  <a:solidFill>
                    <a:schemeClr val="bg1"/>
                  </a:solidFill>
                  <a:latin typeface="Calibri" panose="020F0502020204030204" pitchFamily="34" charset="0"/>
                  <a:cs typeface="Calibri" panose="020F0502020204030204" pitchFamily="34" charset="0"/>
                </a:rPr>
                <a:t>6</a:t>
              </a:r>
              <a:endParaRPr lang="en-US" dirty="0">
                <a:solidFill>
                  <a:schemeClr val="bg1"/>
                </a:solidFill>
                <a:latin typeface="Calibri" panose="020F0502020204030204" pitchFamily="34" charset="0"/>
                <a:cs typeface="Calibri" panose="020F0502020204030204" pitchFamily="34" charset="0"/>
              </a:endParaRPr>
            </a:p>
          </p:txBody>
        </p:sp>
      </p:grpSp>
      <p:sp>
        <p:nvSpPr>
          <p:cNvPr id="41" name="Content Placeholder 17">
            <a:extLst>
              <a:ext uri="{FF2B5EF4-FFF2-40B4-BE49-F238E27FC236}">
                <a16:creationId xmlns:a16="http://schemas.microsoft.com/office/drawing/2014/main" id="{1A70EC7E-5499-AADA-C534-B5255F7B98A1}"/>
              </a:ext>
            </a:extLst>
          </p:cNvPr>
          <p:cNvSpPr txBox="1">
            <a:spLocks/>
          </p:cNvSpPr>
          <p:nvPr/>
        </p:nvSpPr>
        <p:spPr>
          <a:xfrm>
            <a:off x="1190057" y="5765175"/>
            <a:ext cx="1647412" cy="305973"/>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800" dirty="0">
                <a:latin typeface="Calibri" panose="020F0502020204030204" pitchFamily="34" charset="0"/>
                <a:cs typeface="Calibri" panose="020F0502020204030204" pitchFamily="34" charset="0"/>
              </a:rPr>
              <a:t>Conclusion</a:t>
            </a:r>
            <a:endParaRPr lang="en-US" sz="1800" dirty="0">
              <a:solidFill>
                <a:prstClr val="black">
                  <a:lumMod val="75000"/>
                  <a:lumOff val="25000"/>
                </a:prstClr>
              </a:solidFill>
              <a:latin typeface="Calibri" panose="020F0502020204030204" pitchFamily="34" charset="0"/>
              <a:cs typeface="Calibri" panose="020F0502020204030204" pitchFamily="34" charset="0"/>
            </a:endParaRPr>
          </a:p>
        </p:txBody>
      </p:sp>
      <p:pic>
        <p:nvPicPr>
          <p:cNvPr id="43" name="Picture 42">
            <a:extLst>
              <a:ext uri="{FF2B5EF4-FFF2-40B4-BE49-F238E27FC236}">
                <a16:creationId xmlns:a16="http://schemas.microsoft.com/office/drawing/2014/main" id="{F8DF4A28-5578-3A95-D437-6406F3FA0243}"/>
              </a:ext>
            </a:extLst>
          </p:cNvPr>
          <p:cNvPicPr>
            <a:picLocks noChangeAspect="1"/>
          </p:cNvPicPr>
          <p:nvPr/>
        </p:nvPicPr>
        <p:blipFill>
          <a:blip r:embed="rId2"/>
          <a:stretch>
            <a:fillRect/>
          </a:stretch>
        </p:blipFill>
        <p:spPr>
          <a:xfrm>
            <a:off x="5293582" y="1218759"/>
            <a:ext cx="6094359" cy="911690"/>
          </a:xfrm>
          <a:prstGeom prst="rect">
            <a:avLst/>
          </a:prstGeom>
        </p:spPr>
      </p:pic>
      <p:cxnSp>
        <p:nvCxnSpPr>
          <p:cNvPr id="58" name="Straight Arrow Connector 57">
            <a:extLst>
              <a:ext uri="{FF2B5EF4-FFF2-40B4-BE49-F238E27FC236}">
                <a16:creationId xmlns:a16="http://schemas.microsoft.com/office/drawing/2014/main" id="{DAD75E61-461C-B417-D907-0936108EC439}"/>
              </a:ext>
            </a:extLst>
          </p:cNvPr>
          <p:cNvCxnSpPr>
            <a:cxnSpLocks/>
          </p:cNvCxnSpPr>
          <p:nvPr/>
        </p:nvCxnSpPr>
        <p:spPr>
          <a:xfrm>
            <a:off x="2752627" y="1687398"/>
            <a:ext cx="244154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Connector: Elbow 6">
            <a:extLst>
              <a:ext uri="{FF2B5EF4-FFF2-40B4-BE49-F238E27FC236}">
                <a16:creationId xmlns:a16="http://schemas.microsoft.com/office/drawing/2014/main" id="{53AC9179-186F-AA28-D51C-CC7E00A11570}"/>
              </a:ext>
            </a:extLst>
          </p:cNvPr>
          <p:cNvCxnSpPr/>
          <p:nvPr/>
        </p:nvCxnSpPr>
        <p:spPr>
          <a:xfrm flipV="1">
            <a:off x="7692272" y="5117599"/>
            <a:ext cx="2639505" cy="231867"/>
          </a:xfrm>
          <a:prstGeom prst="bentConnector3">
            <a:avLst>
              <a:gd name="adj1" fmla="val 100000"/>
            </a:avLst>
          </a:prstGeom>
          <a:ln>
            <a:tailEnd type="triangle"/>
          </a:ln>
        </p:spPr>
        <p:style>
          <a:lnRef idx="1">
            <a:schemeClr val="accent2"/>
          </a:lnRef>
          <a:fillRef idx="0">
            <a:schemeClr val="accent2"/>
          </a:fillRef>
          <a:effectRef idx="0">
            <a:schemeClr val="accent2"/>
          </a:effectRef>
          <a:fontRef idx="minor">
            <a:schemeClr val="tx1"/>
          </a:fontRef>
        </p:style>
      </p:cxnSp>
      <p:pic>
        <p:nvPicPr>
          <p:cNvPr id="10" name="Picture 9">
            <a:extLst>
              <a:ext uri="{FF2B5EF4-FFF2-40B4-BE49-F238E27FC236}">
                <a16:creationId xmlns:a16="http://schemas.microsoft.com/office/drawing/2014/main" id="{07425E0F-F44D-7CA8-58EE-2F5293F1FC67}"/>
              </a:ext>
            </a:extLst>
          </p:cNvPr>
          <p:cNvPicPr>
            <a:picLocks noChangeAspect="1"/>
          </p:cNvPicPr>
          <p:nvPr/>
        </p:nvPicPr>
        <p:blipFill>
          <a:blip r:embed="rId3"/>
          <a:stretch>
            <a:fillRect/>
          </a:stretch>
        </p:blipFill>
        <p:spPr>
          <a:xfrm>
            <a:off x="6963621" y="2402527"/>
            <a:ext cx="4813041" cy="2636611"/>
          </a:xfrm>
          <a:prstGeom prst="rect">
            <a:avLst/>
          </a:prstGeom>
        </p:spPr>
      </p:pic>
      <p:sp>
        <p:nvSpPr>
          <p:cNvPr id="23" name="Slide Number Placeholder 22">
            <a:extLst>
              <a:ext uri="{FF2B5EF4-FFF2-40B4-BE49-F238E27FC236}">
                <a16:creationId xmlns:a16="http://schemas.microsoft.com/office/drawing/2014/main" id="{4FA7478B-50A2-BEAC-6645-464B4BDE9F2D}"/>
              </a:ext>
            </a:extLst>
          </p:cNvPr>
          <p:cNvSpPr>
            <a:spLocks noGrp="1"/>
          </p:cNvSpPr>
          <p:nvPr>
            <p:ph type="sldNum" sz="quarter" idx="4"/>
          </p:nvPr>
        </p:nvSpPr>
        <p:spPr/>
        <p:txBody>
          <a:bodyPr/>
          <a:lstStyle/>
          <a:p>
            <a:fld id="{9860EDB8-5305-433F-BE41-D7A86D811DB3}" type="slidenum">
              <a:rPr lang="en-US" smtClean="0"/>
              <a:pPr/>
              <a:t>2</a:t>
            </a:fld>
            <a:endParaRPr lang="en-US" dirty="0"/>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F5D4-61E0-1C21-2C5C-44610A14A0EA}"/>
              </a:ext>
            </a:extLst>
          </p:cNvPr>
          <p:cNvSpPr>
            <a:spLocks noGrp="1"/>
          </p:cNvSpPr>
          <p:nvPr>
            <p:ph type="title"/>
          </p:nvPr>
        </p:nvSpPr>
        <p:spPr/>
        <p:txBody>
          <a:bodyPr/>
          <a:lstStyle/>
          <a:p>
            <a:r>
              <a:rPr lang="it-IT" b="1" dirty="0">
                <a:solidFill>
                  <a:srgbClr val="C00000"/>
                </a:solidFill>
              </a:rPr>
              <a:t>1. </a:t>
            </a:r>
            <a:r>
              <a:rPr lang="it-IT" dirty="0"/>
              <a:t>Join </a:t>
            </a:r>
            <a:r>
              <a:rPr lang="it-IT" dirty="0" err="1"/>
              <a:t>Reasons</a:t>
            </a:r>
            <a:endParaRPr lang="en-US" dirty="0"/>
          </a:p>
        </p:txBody>
      </p:sp>
      <p:pic>
        <p:nvPicPr>
          <p:cNvPr id="6" name="Picture 5">
            <a:extLst>
              <a:ext uri="{FF2B5EF4-FFF2-40B4-BE49-F238E27FC236}">
                <a16:creationId xmlns:a16="http://schemas.microsoft.com/office/drawing/2014/main" id="{8B12A6A8-C576-2307-289E-8E64C7667D3A}"/>
              </a:ext>
            </a:extLst>
          </p:cNvPr>
          <p:cNvPicPr>
            <a:picLocks noChangeAspect="1"/>
          </p:cNvPicPr>
          <p:nvPr/>
        </p:nvPicPr>
        <p:blipFill>
          <a:blip r:embed="rId2"/>
          <a:stretch>
            <a:fillRect/>
          </a:stretch>
        </p:blipFill>
        <p:spPr>
          <a:xfrm>
            <a:off x="1402218" y="1266763"/>
            <a:ext cx="9209988" cy="1310313"/>
          </a:xfrm>
          <a:prstGeom prst="rect">
            <a:avLst/>
          </a:prstGeom>
        </p:spPr>
      </p:pic>
      <p:sp>
        <p:nvSpPr>
          <p:cNvPr id="10" name="TextBox 9">
            <a:extLst>
              <a:ext uri="{FF2B5EF4-FFF2-40B4-BE49-F238E27FC236}">
                <a16:creationId xmlns:a16="http://schemas.microsoft.com/office/drawing/2014/main" id="{CA927445-D0F6-F620-E487-09C8B838FF89}"/>
              </a:ext>
            </a:extLst>
          </p:cNvPr>
          <p:cNvSpPr txBox="1"/>
          <p:nvPr/>
        </p:nvSpPr>
        <p:spPr>
          <a:xfrm>
            <a:off x="319281" y="3683929"/>
            <a:ext cx="7996306" cy="1954381"/>
          </a:xfrm>
          <a:prstGeom prst="rect">
            <a:avLst/>
          </a:prstGeom>
          <a:noFill/>
        </p:spPr>
        <p:txBody>
          <a:bodyPr wrap="square">
            <a:spAutoFit/>
          </a:bodyPr>
          <a:lstStyle/>
          <a:p>
            <a:r>
              <a:rPr lang="en-US" sz="1100" b="1" dirty="0"/>
              <a:t>CUSTOMERS</a:t>
            </a:r>
          </a:p>
          <a:p>
            <a:r>
              <a:rPr lang="en-US" sz="1100" dirty="0"/>
              <a:t>“country code </a:t>
            </a:r>
            <a:r>
              <a:rPr lang="en-US" sz="1100" u="sng" dirty="0"/>
              <a:t>, "</a:t>
            </a:r>
            <a:r>
              <a:rPr lang="en-US" sz="1100" u="sng" dirty="0">
                <a:highlight>
                  <a:srgbClr val="FFFF00"/>
                </a:highlight>
              </a:rPr>
              <a:t>customer number</a:t>
            </a:r>
            <a:r>
              <a:rPr lang="en-US" sz="1100" u="sng" dirty="0"/>
              <a:t>“ </a:t>
            </a:r>
            <a:r>
              <a:rPr lang="en-US" sz="1100" dirty="0"/>
              <a:t>, "civility“ , "first name“ , "birthday“ , "store code creation“ , "store code attachment	</a:t>
            </a:r>
          </a:p>
          <a:p>
            <a:r>
              <a:rPr lang="en-US" sz="1100" b="1" dirty="0"/>
              <a:t>PRODUCTS</a:t>
            </a:r>
          </a:p>
          <a:p>
            <a:r>
              <a:rPr lang="en-US" sz="1100" u="sng" dirty="0"/>
              <a:t>“product code” </a:t>
            </a:r>
            <a:r>
              <a:rPr lang="en-US" sz="1100" dirty="0"/>
              <a:t>,"product"</a:t>
            </a:r>
          </a:p>
          <a:p>
            <a:r>
              <a:rPr lang="en-US" sz="1100" b="1" dirty="0"/>
              <a:t>STORES</a:t>
            </a:r>
          </a:p>
          <a:p>
            <a:r>
              <a:rPr lang="en-US" sz="1100" dirty="0"/>
              <a:t>“country code” , </a:t>
            </a:r>
            <a:r>
              <a:rPr lang="en-US" sz="1100" u="sng" dirty="0"/>
              <a:t>"store code“ </a:t>
            </a:r>
            <a:r>
              <a:rPr lang="en-US" sz="1100" dirty="0"/>
              <a:t>, "store"</a:t>
            </a:r>
          </a:p>
          <a:p>
            <a:r>
              <a:rPr lang="en-US" sz="1100" b="1" dirty="0"/>
              <a:t>TICKETS</a:t>
            </a:r>
          </a:p>
          <a:p>
            <a:r>
              <a:rPr lang="en-US" sz="1100" dirty="0"/>
              <a:t>“country code” , </a:t>
            </a:r>
            <a:r>
              <a:rPr lang="en-US" sz="1100" u="sng" dirty="0"/>
              <a:t>"</a:t>
            </a:r>
            <a:r>
              <a:rPr lang="en-US" sz="1100" u="sng" dirty="0">
                <a:highlight>
                  <a:srgbClr val="FFFF00"/>
                </a:highlight>
              </a:rPr>
              <a:t>store code</a:t>
            </a:r>
            <a:r>
              <a:rPr lang="en-US" sz="1100" u="sng" dirty="0"/>
              <a:t>“ </a:t>
            </a:r>
            <a:r>
              <a:rPr lang="en-US" sz="1100" dirty="0"/>
              <a:t>, </a:t>
            </a:r>
            <a:r>
              <a:rPr lang="en-US" sz="1100" u="sng" dirty="0"/>
              <a:t>"</a:t>
            </a:r>
            <a:r>
              <a:rPr lang="en-US" sz="1100" u="sng" dirty="0">
                <a:highlight>
                  <a:srgbClr val="FFFF00"/>
                </a:highlight>
              </a:rPr>
              <a:t>timestamp ticket</a:t>
            </a:r>
            <a:r>
              <a:rPr lang="en-US" sz="1100" u="sng" dirty="0"/>
              <a:t>“ </a:t>
            </a:r>
            <a:r>
              <a:rPr lang="en-US" sz="1100" dirty="0"/>
              <a:t>, </a:t>
            </a:r>
            <a:r>
              <a:rPr lang="en-US" sz="1100" u="sng" dirty="0"/>
              <a:t>"</a:t>
            </a:r>
            <a:r>
              <a:rPr lang="en-US" sz="1100" u="sng" dirty="0">
                <a:highlight>
                  <a:srgbClr val="FFFF00"/>
                </a:highlight>
              </a:rPr>
              <a:t>ticket number</a:t>
            </a:r>
            <a:r>
              <a:rPr lang="en-US" sz="1100" u="sng" dirty="0"/>
              <a:t>“ </a:t>
            </a:r>
            <a:r>
              <a:rPr lang="en-US" sz="1100" dirty="0"/>
              <a:t>, </a:t>
            </a:r>
            <a:r>
              <a:rPr lang="en-US" sz="1100" u="sng" dirty="0"/>
              <a:t>"</a:t>
            </a:r>
            <a:r>
              <a:rPr lang="en-US" sz="1100" u="sng" dirty="0">
                <a:highlight>
                  <a:srgbClr val="FFFF00"/>
                </a:highlight>
              </a:rPr>
              <a:t>customer number</a:t>
            </a:r>
            <a:r>
              <a:rPr lang="en-US" sz="1100" u="sng" dirty="0"/>
              <a:t>"</a:t>
            </a:r>
            <a:endParaRPr lang="en-US" sz="1100" dirty="0"/>
          </a:p>
          <a:p>
            <a:r>
              <a:rPr lang="en-US" sz="1100" b="1" dirty="0"/>
              <a:t>UNIT_TICKETS</a:t>
            </a:r>
          </a:p>
          <a:p>
            <a:r>
              <a:rPr lang="en-US" sz="1100" dirty="0"/>
              <a:t>“country code” , </a:t>
            </a:r>
            <a:r>
              <a:rPr lang="en-US" sz="1100" u="sng" dirty="0"/>
              <a:t>"</a:t>
            </a:r>
            <a:r>
              <a:rPr lang="en-US" sz="1100" u="sng" dirty="0">
                <a:highlight>
                  <a:srgbClr val="FFFF00"/>
                </a:highlight>
              </a:rPr>
              <a:t>store code</a:t>
            </a:r>
            <a:r>
              <a:rPr lang="en-US" sz="1100" u="sng" dirty="0"/>
              <a:t>“ </a:t>
            </a:r>
            <a:r>
              <a:rPr lang="en-US" sz="1100" dirty="0"/>
              <a:t>, </a:t>
            </a:r>
            <a:r>
              <a:rPr lang="en-US" sz="1100" u="sng" dirty="0"/>
              <a:t>"</a:t>
            </a:r>
            <a:r>
              <a:rPr lang="en-US" sz="1100" u="sng" dirty="0">
                <a:highlight>
                  <a:srgbClr val="FFFF00"/>
                </a:highlight>
              </a:rPr>
              <a:t>ticket timestamp</a:t>
            </a:r>
            <a:r>
              <a:rPr lang="en-US" sz="1100" u="sng" dirty="0"/>
              <a:t>“ </a:t>
            </a:r>
            <a:r>
              <a:rPr lang="en-US" sz="1100" dirty="0"/>
              <a:t>, </a:t>
            </a:r>
            <a:r>
              <a:rPr lang="en-US" sz="1100" u="sng" dirty="0"/>
              <a:t>"</a:t>
            </a:r>
            <a:r>
              <a:rPr lang="en-US" sz="1100" u="sng" dirty="0">
                <a:highlight>
                  <a:srgbClr val="FFFF00"/>
                </a:highlight>
              </a:rPr>
              <a:t>ticket number</a:t>
            </a:r>
            <a:r>
              <a:rPr lang="en-US" sz="1100" u="sng" dirty="0"/>
              <a:t>“ </a:t>
            </a:r>
            <a:r>
              <a:rPr lang="en-US" sz="1100" dirty="0"/>
              <a:t>, </a:t>
            </a:r>
            <a:r>
              <a:rPr lang="en-US" sz="1100" u="sng" dirty="0"/>
              <a:t>"line number“ </a:t>
            </a:r>
            <a:r>
              <a:rPr lang="en-US" sz="1100" dirty="0"/>
              <a:t>, </a:t>
            </a:r>
            <a:r>
              <a:rPr lang="en-US" sz="1100" u="sng" dirty="0"/>
              <a:t>"product code“ </a:t>
            </a:r>
            <a:r>
              <a:rPr lang="en-US" sz="1100" dirty="0"/>
              <a:t>, "</a:t>
            </a:r>
            <a:r>
              <a:rPr lang="en-US" sz="1100" dirty="0" err="1"/>
              <a:t>caisse</a:t>
            </a:r>
            <a:r>
              <a:rPr lang="en-US" sz="1100" dirty="0"/>
              <a:t> code“ , "cashier code“ , "quantity“ , "amount“ , "margin"</a:t>
            </a:r>
          </a:p>
        </p:txBody>
      </p:sp>
      <p:pic>
        <p:nvPicPr>
          <p:cNvPr id="5" name="Picture 4">
            <a:extLst>
              <a:ext uri="{FF2B5EF4-FFF2-40B4-BE49-F238E27FC236}">
                <a16:creationId xmlns:a16="http://schemas.microsoft.com/office/drawing/2014/main" id="{6E1B3BAF-A2D4-780F-4B0C-EC622F5FA11B}"/>
              </a:ext>
            </a:extLst>
          </p:cNvPr>
          <p:cNvPicPr>
            <a:picLocks noChangeAspect="1"/>
          </p:cNvPicPr>
          <p:nvPr/>
        </p:nvPicPr>
        <p:blipFill>
          <a:blip r:embed="rId3"/>
          <a:stretch>
            <a:fillRect/>
          </a:stretch>
        </p:blipFill>
        <p:spPr>
          <a:xfrm>
            <a:off x="109469" y="5677901"/>
            <a:ext cx="4230180" cy="472737"/>
          </a:xfrm>
          <a:prstGeom prst="rect">
            <a:avLst/>
          </a:prstGeom>
        </p:spPr>
      </p:pic>
      <p:pic>
        <p:nvPicPr>
          <p:cNvPr id="3" name="Picture 2">
            <a:extLst>
              <a:ext uri="{FF2B5EF4-FFF2-40B4-BE49-F238E27FC236}">
                <a16:creationId xmlns:a16="http://schemas.microsoft.com/office/drawing/2014/main" id="{EDD51414-8B1A-6D1A-EF75-A7156BD48EF3}"/>
              </a:ext>
            </a:extLst>
          </p:cNvPr>
          <p:cNvPicPr>
            <a:picLocks noChangeAspect="1"/>
          </p:cNvPicPr>
          <p:nvPr/>
        </p:nvPicPr>
        <p:blipFill>
          <a:blip r:embed="rId4"/>
          <a:stretch>
            <a:fillRect/>
          </a:stretch>
        </p:blipFill>
        <p:spPr>
          <a:xfrm>
            <a:off x="4086225" y="5709483"/>
            <a:ext cx="4019550" cy="409575"/>
          </a:xfrm>
          <a:prstGeom prst="rect">
            <a:avLst/>
          </a:prstGeom>
        </p:spPr>
      </p:pic>
      <p:pic>
        <p:nvPicPr>
          <p:cNvPr id="4" name="Picture 3">
            <a:extLst>
              <a:ext uri="{FF2B5EF4-FFF2-40B4-BE49-F238E27FC236}">
                <a16:creationId xmlns:a16="http://schemas.microsoft.com/office/drawing/2014/main" id="{0F490DD2-AC1A-0C2A-F7C3-4F737086B825}"/>
              </a:ext>
            </a:extLst>
          </p:cNvPr>
          <p:cNvPicPr>
            <a:picLocks noChangeAspect="1"/>
          </p:cNvPicPr>
          <p:nvPr/>
        </p:nvPicPr>
        <p:blipFill>
          <a:blip r:embed="rId5"/>
          <a:stretch>
            <a:fillRect/>
          </a:stretch>
        </p:blipFill>
        <p:spPr>
          <a:xfrm>
            <a:off x="7967731" y="5681364"/>
            <a:ext cx="4114800" cy="447675"/>
          </a:xfrm>
          <a:prstGeom prst="rect">
            <a:avLst/>
          </a:prstGeom>
        </p:spPr>
      </p:pic>
      <p:sp>
        <p:nvSpPr>
          <p:cNvPr id="8" name="TextBox 7">
            <a:extLst>
              <a:ext uri="{FF2B5EF4-FFF2-40B4-BE49-F238E27FC236}">
                <a16:creationId xmlns:a16="http://schemas.microsoft.com/office/drawing/2014/main" id="{7BF1E125-FCA1-0E8D-2B2A-D159D7BD57CE}"/>
              </a:ext>
            </a:extLst>
          </p:cNvPr>
          <p:cNvSpPr txBox="1"/>
          <p:nvPr/>
        </p:nvSpPr>
        <p:spPr>
          <a:xfrm>
            <a:off x="1381204" y="2541700"/>
            <a:ext cx="9265183" cy="1200329"/>
          </a:xfrm>
          <a:prstGeom prst="rect">
            <a:avLst/>
          </a:prstGeom>
          <a:noFill/>
        </p:spPr>
        <p:txBody>
          <a:bodyPr wrap="square">
            <a:spAutoFit/>
          </a:bodyPr>
          <a:lstStyle/>
          <a:p>
            <a:pPr marL="171450" indent="-171450" algn="just">
              <a:buFont typeface="Arial" panose="020B0604020202020204" pitchFamily="34" charset="0"/>
              <a:buChar char="•"/>
            </a:pPr>
            <a:r>
              <a:rPr lang="en-US" sz="1200" dirty="0"/>
              <a:t>The analysis focuses on </a:t>
            </a:r>
            <a:r>
              <a:rPr lang="en-US" sz="1200" b="1" dirty="0"/>
              <a:t>customers, products </a:t>
            </a:r>
            <a:r>
              <a:rPr lang="en-US" sz="1200" dirty="0"/>
              <a:t>and </a:t>
            </a:r>
            <a:r>
              <a:rPr lang="en-US" sz="1200" b="1" dirty="0"/>
              <a:t>stores</a:t>
            </a:r>
          </a:p>
          <a:p>
            <a:pPr algn="just"/>
            <a:endParaRPr lang="en-US" sz="1200" b="1" dirty="0"/>
          </a:p>
          <a:p>
            <a:pPr marL="171450" indent="-171450" algn="just">
              <a:buFont typeface="Arial" panose="020B0604020202020204" pitchFamily="34" charset="0"/>
              <a:buChar char="•"/>
            </a:pPr>
            <a:r>
              <a:rPr lang="en-US" sz="1200" b="1" dirty="0"/>
              <a:t>INNER JOIN: </a:t>
            </a:r>
            <a:r>
              <a:rPr lang="en-US" sz="1200" dirty="0"/>
              <a:t>Tickets not associated with </a:t>
            </a:r>
            <a:r>
              <a:rPr lang="en-US" sz="1200" dirty="0" err="1"/>
              <a:t>unit_tickets</a:t>
            </a:r>
            <a:r>
              <a:rPr lang="en-US" sz="1200" dirty="0"/>
              <a:t> and </a:t>
            </a:r>
            <a:r>
              <a:rPr lang="en-US" sz="1200" dirty="0" err="1"/>
              <a:t>viceversa</a:t>
            </a:r>
            <a:r>
              <a:rPr lang="en-US" sz="1200" dirty="0"/>
              <a:t> will not be analyzed</a:t>
            </a:r>
          </a:p>
          <a:p>
            <a:pPr marL="171450" indent="-171450" algn="just">
              <a:buFont typeface="Arial" panose="020B0604020202020204" pitchFamily="34" charset="0"/>
              <a:buChar char="•"/>
            </a:pPr>
            <a:endParaRPr lang="en-US" sz="1200" dirty="0"/>
          </a:p>
          <a:p>
            <a:pPr marL="171450" indent="-171450" algn="just">
              <a:buFont typeface="Arial" panose="020B0604020202020204" pitchFamily="34" charset="0"/>
              <a:buChar char="•"/>
            </a:pPr>
            <a:r>
              <a:rPr lang="en-US" sz="1200" b="1" dirty="0"/>
              <a:t>FULL OUTER </a:t>
            </a:r>
            <a:r>
              <a:rPr lang="en-US" sz="1200" b="1" dirty="0" err="1"/>
              <a:t>JOINs</a:t>
            </a:r>
            <a:r>
              <a:rPr lang="en-US" sz="1200" dirty="0"/>
              <a:t> are used to ensure that all stores and all products are preserved, even if they were not sold or associated with a ticket</a:t>
            </a:r>
          </a:p>
        </p:txBody>
      </p:sp>
      <p:sp>
        <p:nvSpPr>
          <p:cNvPr id="9" name="Slide Number Placeholder 8">
            <a:extLst>
              <a:ext uri="{FF2B5EF4-FFF2-40B4-BE49-F238E27FC236}">
                <a16:creationId xmlns:a16="http://schemas.microsoft.com/office/drawing/2014/main" id="{BB06CC88-F684-9D05-20E1-EE35C14F3C06}"/>
              </a:ext>
            </a:extLst>
          </p:cNvPr>
          <p:cNvSpPr>
            <a:spLocks noGrp="1"/>
          </p:cNvSpPr>
          <p:nvPr>
            <p:ph type="sldNum" sz="quarter" idx="4"/>
          </p:nvPr>
        </p:nvSpPr>
        <p:spPr/>
        <p:txBody>
          <a:bodyPr/>
          <a:lstStyle/>
          <a:p>
            <a:fld id="{9860EDB8-5305-433F-BE41-D7A86D811DB3}" type="slidenum">
              <a:rPr lang="en-US" smtClean="0"/>
              <a:pPr/>
              <a:t>3</a:t>
            </a:fld>
            <a:endParaRPr lang="en-US" dirty="0"/>
          </a:p>
        </p:txBody>
      </p:sp>
      <p:pic>
        <p:nvPicPr>
          <p:cNvPr id="11" name="Picture 10">
            <a:extLst>
              <a:ext uri="{FF2B5EF4-FFF2-40B4-BE49-F238E27FC236}">
                <a16:creationId xmlns:a16="http://schemas.microsoft.com/office/drawing/2014/main" id="{9A883C4B-47CA-5524-F54E-DD040E018CE8}"/>
              </a:ext>
            </a:extLst>
          </p:cNvPr>
          <p:cNvPicPr>
            <a:picLocks noChangeAspect="1"/>
          </p:cNvPicPr>
          <p:nvPr/>
        </p:nvPicPr>
        <p:blipFill>
          <a:blip r:embed="rId6"/>
          <a:stretch>
            <a:fillRect/>
          </a:stretch>
        </p:blipFill>
        <p:spPr>
          <a:xfrm>
            <a:off x="6735394" y="393327"/>
            <a:ext cx="4275113" cy="440355"/>
          </a:xfrm>
          <a:prstGeom prst="rect">
            <a:avLst/>
          </a:prstGeom>
        </p:spPr>
      </p:pic>
      <p:sp>
        <p:nvSpPr>
          <p:cNvPr id="13" name="TextBox 12">
            <a:extLst>
              <a:ext uri="{FF2B5EF4-FFF2-40B4-BE49-F238E27FC236}">
                <a16:creationId xmlns:a16="http://schemas.microsoft.com/office/drawing/2014/main" id="{731764B4-63EE-51FF-E473-35C2FD078836}"/>
              </a:ext>
            </a:extLst>
          </p:cNvPr>
          <p:cNvSpPr txBox="1"/>
          <p:nvPr/>
        </p:nvSpPr>
        <p:spPr>
          <a:xfrm>
            <a:off x="10376536" y="448056"/>
            <a:ext cx="539703" cy="338554"/>
          </a:xfrm>
          <a:prstGeom prst="rect">
            <a:avLst/>
          </a:prstGeom>
          <a:noFill/>
        </p:spPr>
        <p:txBody>
          <a:bodyPr wrap="square">
            <a:spAutoFit/>
          </a:bodyPr>
          <a:lstStyle/>
          <a:p>
            <a:r>
              <a:rPr lang="it-IT" sz="1600" b="1" dirty="0">
                <a:solidFill>
                  <a:srgbClr val="FF0000"/>
                </a:solidFill>
              </a:rPr>
              <a:t>?</a:t>
            </a:r>
            <a:endParaRPr lang="en-US" sz="1600" b="1" dirty="0">
              <a:solidFill>
                <a:srgbClr val="FF0000"/>
              </a:solidFill>
            </a:endParaRPr>
          </a:p>
        </p:txBody>
      </p:sp>
      <p:sp>
        <p:nvSpPr>
          <p:cNvPr id="15" name="TextBox 14">
            <a:extLst>
              <a:ext uri="{FF2B5EF4-FFF2-40B4-BE49-F238E27FC236}">
                <a16:creationId xmlns:a16="http://schemas.microsoft.com/office/drawing/2014/main" id="{71BB8434-1B75-F9EE-80A4-069811ADB3C5}"/>
              </a:ext>
            </a:extLst>
          </p:cNvPr>
          <p:cNvSpPr txBox="1"/>
          <p:nvPr/>
        </p:nvSpPr>
        <p:spPr>
          <a:xfrm>
            <a:off x="319281" y="6075932"/>
            <a:ext cx="6094428" cy="461665"/>
          </a:xfrm>
          <a:prstGeom prst="rect">
            <a:avLst/>
          </a:prstGeom>
          <a:noFill/>
        </p:spPr>
        <p:txBody>
          <a:bodyPr wrap="square">
            <a:spAutoFit/>
          </a:bodyPr>
          <a:lstStyle/>
          <a:p>
            <a:pPr marL="171450" indent="-171450">
              <a:buFont typeface="Arial" panose="020B0604020202020204" pitchFamily="34" charset="0"/>
              <a:buChar char="•"/>
            </a:pPr>
            <a:r>
              <a:rPr lang="en-US" sz="1200" dirty="0"/>
              <a:t>Each customer is associated with at least one ticket, and vice versa</a:t>
            </a:r>
          </a:p>
          <a:p>
            <a:pPr marL="171450" indent="-171450">
              <a:buFont typeface="Arial" panose="020B0604020202020204" pitchFamily="34" charset="0"/>
              <a:buChar char="•"/>
            </a:pPr>
            <a:r>
              <a:rPr lang="en-US" sz="1200" dirty="0"/>
              <a:t>Not all tickets are associated with </a:t>
            </a:r>
            <a:r>
              <a:rPr lang="en-US" sz="1200" dirty="0" err="1"/>
              <a:t>unit_ticket</a:t>
            </a:r>
            <a:r>
              <a:rPr lang="en-US" sz="1200" dirty="0"/>
              <a:t> </a:t>
            </a:r>
          </a:p>
        </p:txBody>
      </p:sp>
    </p:spTree>
    <p:extLst>
      <p:ext uri="{BB962C8B-B14F-4D97-AF65-F5344CB8AC3E}">
        <p14:creationId xmlns:p14="http://schemas.microsoft.com/office/powerpoint/2010/main" val="2605928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EA85-B0DD-94BA-5C2E-FB93F755E698}"/>
              </a:ext>
            </a:extLst>
          </p:cNvPr>
          <p:cNvSpPr>
            <a:spLocks noGrp="1"/>
          </p:cNvSpPr>
          <p:nvPr>
            <p:ph type="title"/>
          </p:nvPr>
        </p:nvSpPr>
        <p:spPr/>
        <p:txBody>
          <a:bodyPr/>
          <a:lstStyle/>
          <a:p>
            <a:r>
              <a:rPr lang="en-US" b="1" dirty="0">
                <a:solidFill>
                  <a:srgbClr val="C00000"/>
                </a:solidFill>
              </a:rPr>
              <a:t>2. </a:t>
            </a:r>
            <a:r>
              <a:rPr lang="en-US" dirty="0"/>
              <a:t>Reduce </a:t>
            </a:r>
            <a:r>
              <a:rPr lang="en-US" dirty="0" err="1"/>
              <a:t>unit_tickets</a:t>
            </a:r>
            <a:r>
              <a:rPr lang="en-US" dirty="0"/>
              <a:t> table</a:t>
            </a:r>
          </a:p>
        </p:txBody>
      </p:sp>
      <p:pic>
        <p:nvPicPr>
          <p:cNvPr id="13" name="Content Placeholder 12">
            <a:extLst>
              <a:ext uri="{FF2B5EF4-FFF2-40B4-BE49-F238E27FC236}">
                <a16:creationId xmlns:a16="http://schemas.microsoft.com/office/drawing/2014/main" id="{58F755A1-78DD-AAFD-EB9A-EA2D2696750C}"/>
              </a:ext>
            </a:extLst>
          </p:cNvPr>
          <p:cNvPicPr>
            <a:picLocks noGrp="1" noChangeAspect="1"/>
          </p:cNvPicPr>
          <p:nvPr>
            <p:ph sz="quarter" idx="10"/>
          </p:nvPr>
        </p:nvPicPr>
        <p:blipFill>
          <a:blip r:embed="rId2"/>
          <a:stretch>
            <a:fillRect/>
          </a:stretch>
        </p:blipFill>
        <p:spPr>
          <a:xfrm>
            <a:off x="521207" y="1319560"/>
            <a:ext cx="5313985" cy="4724549"/>
          </a:xfrm>
        </p:spPr>
      </p:pic>
      <p:sp>
        <p:nvSpPr>
          <p:cNvPr id="15" name="TextBox 14">
            <a:extLst>
              <a:ext uri="{FF2B5EF4-FFF2-40B4-BE49-F238E27FC236}">
                <a16:creationId xmlns:a16="http://schemas.microsoft.com/office/drawing/2014/main" id="{B77A4F30-21D6-DE9E-69BE-B04678C3EB2F}"/>
              </a:ext>
            </a:extLst>
          </p:cNvPr>
          <p:cNvSpPr txBox="1"/>
          <p:nvPr/>
        </p:nvSpPr>
        <p:spPr>
          <a:xfrm>
            <a:off x="7096813" y="1401941"/>
            <a:ext cx="3857133" cy="1477328"/>
          </a:xfrm>
          <a:prstGeom prst="rect">
            <a:avLst/>
          </a:prstGeom>
          <a:noFill/>
        </p:spPr>
        <p:txBody>
          <a:bodyPr wrap="square">
            <a:spAutoFit/>
          </a:bodyPr>
          <a:lstStyle/>
          <a:p>
            <a:pPr marL="285750" indent="-285750" algn="just">
              <a:buFont typeface="Arial" panose="020B0604020202020204" pitchFamily="34" charset="0"/>
              <a:buChar char="•"/>
            </a:pPr>
            <a:r>
              <a:rPr lang="en-US" sz="1500" dirty="0"/>
              <a:t>It aggregates the same product appearing multiple times in the same ticket</a:t>
            </a:r>
          </a:p>
          <a:p>
            <a:pPr algn="just"/>
            <a:endParaRPr lang="en-US" sz="1500" dirty="0"/>
          </a:p>
          <a:p>
            <a:pPr marL="285750" indent="-285750" algn="just">
              <a:buFont typeface="Arial" panose="020B0604020202020204" pitchFamily="34" charset="0"/>
              <a:buChar char="•"/>
            </a:pPr>
            <a:r>
              <a:rPr lang="en-US" sz="1500" dirty="0"/>
              <a:t>Associate a weighted average to the amount and margin</a:t>
            </a:r>
          </a:p>
        </p:txBody>
      </p:sp>
      <p:cxnSp>
        <p:nvCxnSpPr>
          <p:cNvPr id="17" name="Straight Arrow Connector 16">
            <a:extLst>
              <a:ext uri="{FF2B5EF4-FFF2-40B4-BE49-F238E27FC236}">
                <a16:creationId xmlns:a16="http://schemas.microsoft.com/office/drawing/2014/main" id="{0C6BBF34-9017-AC88-FEE4-3C3BB1C882CF}"/>
              </a:ext>
            </a:extLst>
          </p:cNvPr>
          <p:cNvCxnSpPr>
            <a:cxnSpLocks/>
          </p:cNvCxnSpPr>
          <p:nvPr/>
        </p:nvCxnSpPr>
        <p:spPr>
          <a:xfrm>
            <a:off x="5590095" y="3601039"/>
            <a:ext cx="15067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7F8AFB-B4BE-E220-59AE-D607A51FEFCA}"/>
                  </a:ext>
                </a:extLst>
              </p:cNvPr>
              <p:cNvSpPr txBox="1"/>
              <p:nvPr/>
            </p:nvSpPr>
            <p:spPr>
              <a:xfrm>
                <a:off x="6895643" y="3429000"/>
                <a:ext cx="3125050" cy="683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nary>
                            <m:naryPr>
                              <m:chr m:val="∑"/>
                              <m:subHide m:val="on"/>
                              <m:supHide m:val="on"/>
                              <m:ctrlPr>
                                <a:rPr lang="en-US" i="1" smtClean="0">
                                  <a:latin typeface="Cambria Math" panose="02040503050406030204" pitchFamily="18" charset="0"/>
                                </a:rPr>
                              </m:ctrlPr>
                            </m:naryPr>
                            <m:sub/>
                            <m:sup/>
                            <m:e>
                              <m:d>
                                <m:dPr>
                                  <m:begChr m:val="["/>
                                  <m:endChr m:val="]"/>
                                  <m:ctrlPr>
                                    <a:rPr lang="it-IT" b="0" i="1" smtClean="0">
                                      <a:latin typeface="Cambria Math" panose="02040503050406030204" pitchFamily="18" charset="0"/>
                                    </a:rPr>
                                  </m:ctrlPr>
                                </m:dPr>
                                <m:e>
                                  <m:r>
                                    <m:rPr>
                                      <m:sty m:val="p"/>
                                    </m:rPr>
                                    <a:rPr lang="it-IT" b="0" i="0" smtClean="0">
                                      <a:latin typeface="Cambria Math" panose="02040503050406030204" pitchFamily="18" charset="0"/>
                                    </a:rPr>
                                    <m:t>Amount</m:t>
                                  </m:r>
                                </m:e>
                              </m:d>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num>
                        <m:den>
                          <m:nary>
                            <m:naryPr>
                              <m:chr m:val="∑"/>
                              <m:subHide m:val="on"/>
                              <m:supHide m:val="on"/>
                              <m:ctrlPr>
                                <a:rPr lang="en-US" i="1" smtClean="0">
                                  <a:latin typeface="Cambria Math" panose="02040503050406030204" pitchFamily="18" charset="0"/>
                                </a:rPr>
                              </m:ctrlPr>
                            </m:naryPr>
                            <m:sub/>
                            <m:sup/>
                            <m:e>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den>
                      </m:f>
                    </m:oMath>
                  </m:oMathPara>
                </a14:m>
                <a:endParaRPr lang="en-US" dirty="0"/>
              </a:p>
            </p:txBody>
          </p:sp>
        </mc:Choice>
        <mc:Fallback xmlns="">
          <p:sp>
            <p:nvSpPr>
              <p:cNvPr id="19" name="TextBox 18">
                <a:extLst>
                  <a:ext uri="{FF2B5EF4-FFF2-40B4-BE49-F238E27FC236}">
                    <a16:creationId xmlns:a16="http://schemas.microsoft.com/office/drawing/2014/main" id="{647F8AFB-B4BE-E220-59AE-D607A51FEFCA}"/>
                  </a:ext>
                </a:extLst>
              </p:cNvPr>
              <p:cNvSpPr txBox="1">
                <a:spLocks noRot="1" noChangeAspect="1" noMove="1" noResize="1" noEditPoints="1" noAdjustHandles="1" noChangeArrowheads="1" noChangeShapeType="1" noTextEdit="1"/>
              </p:cNvSpPr>
              <p:nvPr/>
            </p:nvSpPr>
            <p:spPr>
              <a:xfrm>
                <a:off x="6895643" y="3429000"/>
                <a:ext cx="3125050" cy="68326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C34F35F-4EA2-9209-39C7-AE9099219CF6}"/>
                  </a:ext>
                </a:extLst>
              </p:cNvPr>
              <p:cNvSpPr txBox="1"/>
              <p:nvPr/>
            </p:nvSpPr>
            <p:spPr>
              <a:xfrm>
                <a:off x="6895643" y="4308902"/>
                <a:ext cx="3125050" cy="683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nary>
                            <m:naryPr>
                              <m:chr m:val="∑"/>
                              <m:subHide m:val="on"/>
                              <m:supHide m:val="on"/>
                              <m:ctrlPr>
                                <a:rPr lang="en-US" i="1" smtClean="0">
                                  <a:latin typeface="Cambria Math" panose="02040503050406030204" pitchFamily="18" charset="0"/>
                                </a:rPr>
                              </m:ctrlPr>
                            </m:naryPr>
                            <m:sub/>
                            <m:sup/>
                            <m:e>
                              <m:d>
                                <m:dPr>
                                  <m:begChr m:val="["/>
                                  <m:endChr m:val="]"/>
                                  <m:ctrlPr>
                                    <a:rPr lang="it-IT" b="0" i="1" smtClean="0">
                                      <a:latin typeface="Cambria Math" panose="02040503050406030204" pitchFamily="18" charset="0"/>
                                    </a:rPr>
                                  </m:ctrlPr>
                                </m:dPr>
                                <m:e>
                                  <m:r>
                                    <m:rPr>
                                      <m:sty m:val="p"/>
                                    </m:rPr>
                                    <a:rPr lang="it-IT" b="0" i="0" smtClean="0">
                                      <a:latin typeface="Cambria Math" panose="02040503050406030204" pitchFamily="18" charset="0"/>
                                    </a:rPr>
                                    <m:t>Margin</m:t>
                                  </m:r>
                                </m:e>
                              </m:d>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num>
                        <m:den>
                          <m:nary>
                            <m:naryPr>
                              <m:chr m:val="∑"/>
                              <m:subHide m:val="on"/>
                              <m:supHide m:val="on"/>
                              <m:ctrlPr>
                                <a:rPr lang="en-US" i="1" smtClean="0">
                                  <a:latin typeface="Cambria Math" panose="02040503050406030204" pitchFamily="18" charset="0"/>
                                </a:rPr>
                              </m:ctrlPr>
                            </m:naryPr>
                            <m:sub/>
                            <m:sup/>
                            <m:e>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den>
                      </m:f>
                    </m:oMath>
                  </m:oMathPara>
                </a14:m>
                <a:endParaRPr lang="en-US" dirty="0"/>
              </a:p>
            </p:txBody>
          </p:sp>
        </mc:Choice>
        <mc:Fallback xmlns="">
          <p:sp>
            <p:nvSpPr>
              <p:cNvPr id="20" name="TextBox 19">
                <a:extLst>
                  <a:ext uri="{FF2B5EF4-FFF2-40B4-BE49-F238E27FC236}">
                    <a16:creationId xmlns:a16="http://schemas.microsoft.com/office/drawing/2014/main" id="{6C34F35F-4EA2-9209-39C7-AE9099219CF6}"/>
                  </a:ext>
                </a:extLst>
              </p:cNvPr>
              <p:cNvSpPr txBox="1">
                <a:spLocks noRot="1" noChangeAspect="1" noMove="1" noResize="1" noEditPoints="1" noAdjustHandles="1" noChangeArrowheads="1" noChangeShapeType="1" noTextEdit="1"/>
              </p:cNvSpPr>
              <p:nvPr/>
            </p:nvSpPr>
            <p:spPr>
              <a:xfrm>
                <a:off x="6895643" y="4308902"/>
                <a:ext cx="3125050" cy="683264"/>
              </a:xfrm>
              <a:prstGeom prst="rect">
                <a:avLst/>
              </a:prstGeom>
              <a:blipFill>
                <a:blip r:embed="rId4"/>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30C5CA24-63A9-B7F1-BA75-DE35323C7062}"/>
              </a:ext>
            </a:extLst>
          </p:cNvPr>
          <p:cNvCxnSpPr>
            <a:cxnSpLocks/>
          </p:cNvCxnSpPr>
          <p:nvPr/>
        </p:nvCxnSpPr>
        <p:spPr>
          <a:xfrm>
            <a:off x="5590095" y="3857134"/>
            <a:ext cx="1602557" cy="61117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Slide Number Placeholder 22">
            <a:extLst>
              <a:ext uri="{FF2B5EF4-FFF2-40B4-BE49-F238E27FC236}">
                <a16:creationId xmlns:a16="http://schemas.microsoft.com/office/drawing/2014/main" id="{65F30306-DFEC-6F60-BD7F-52D93481F08C}"/>
              </a:ext>
            </a:extLst>
          </p:cNvPr>
          <p:cNvSpPr>
            <a:spLocks noGrp="1"/>
          </p:cNvSpPr>
          <p:nvPr>
            <p:ph type="sldNum" sz="quarter" idx="4"/>
          </p:nvPr>
        </p:nvSpPr>
        <p:spPr/>
        <p:txBody>
          <a:bodyPr/>
          <a:lstStyle/>
          <a:p>
            <a:fld id="{9860EDB8-5305-433F-BE41-D7A86D811DB3}" type="slidenum">
              <a:rPr lang="en-US" smtClean="0"/>
              <a:pPr/>
              <a:t>4</a:t>
            </a:fld>
            <a:endParaRPr lang="en-US" dirty="0"/>
          </a:p>
        </p:txBody>
      </p:sp>
    </p:spTree>
    <p:extLst>
      <p:ext uri="{BB962C8B-B14F-4D97-AF65-F5344CB8AC3E}">
        <p14:creationId xmlns:p14="http://schemas.microsoft.com/office/powerpoint/2010/main" val="251047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B1839-E2A8-077D-E3E5-8E903983B9A2}"/>
              </a:ext>
            </a:extLst>
          </p:cNvPr>
          <p:cNvSpPr>
            <a:spLocks noGrp="1"/>
          </p:cNvSpPr>
          <p:nvPr>
            <p:ph type="title"/>
          </p:nvPr>
        </p:nvSpPr>
        <p:spPr/>
        <p:txBody>
          <a:bodyPr/>
          <a:lstStyle/>
          <a:p>
            <a:r>
              <a:rPr lang="it-IT" b="1" dirty="0">
                <a:solidFill>
                  <a:srgbClr val="C00000"/>
                </a:solidFill>
              </a:rPr>
              <a:t>3. </a:t>
            </a:r>
            <a:r>
              <a:rPr lang="it-IT" dirty="0"/>
              <a:t>Goal</a:t>
            </a:r>
            <a:endParaRPr lang="en-US" dirty="0"/>
          </a:p>
        </p:txBody>
      </p:sp>
      <p:sp>
        <p:nvSpPr>
          <p:cNvPr id="3" name="Content Placeholder 2">
            <a:extLst>
              <a:ext uri="{FF2B5EF4-FFF2-40B4-BE49-F238E27FC236}">
                <a16:creationId xmlns:a16="http://schemas.microsoft.com/office/drawing/2014/main" id="{F164716F-586B-7A64-E326-2881BD0BBBED}"/>
              </a:ext>
            </a:extLst>
          </p:cNvPr>
          <p:cNvSpPr>
            <a:spLocks noGrp="1"/>
          </p:cNvSpPr>
          <p:nvPr>
            <p:ph sz="quarter" idx="10"/>
          </p:nvPr>
        </p:nvSpPr>
        <p:spPr>
          <a:xfrm>
            <a:off x="558722" y="1236566"/>
            <a:ext cx="11158795" cy="1437350"/>
          </a:xfrm>
        </p:spPr>
        <p:txBody>
          <a:bodyPr>
            <a:normAutofit fontScale="70000" lnSpcReduction="20000"/>
          </a:bodyPr>
          <a:lstStyle/>
          <a:p>
            <a:r>
              <a:rPr lang="en-US" sz="2100" dirty="0">
                <a:solidFill>
                  <a:schemeClr val="tx1"/>
                </a:solidFill>
              </a:rPr>
              <a:t>The analysis focuses on 3 aspects: </a:t>
            </a:r>
            <a:r>
              <a:rPr lang="en-US" sz="2100" b="1" dirty="0">
                <a:solidFill>
                  <a:schemeClr val="tx1"/>
                </a:solidFill>
              </a:rPr>
              <a:t>products</a:t>
            </a:r>
            <a:r>
              <a:rPr lang="en-US" sz="2100" dirty="0">
                <a:solidFill>
                  <a:schemeClr val="tx1"/>
                </a:solidFill>
              </a:rPr>
              <a:t>, </a:t>
            </a:r>
            <a:r>
              <a:rPr lang="en-US" sz="2100" b="1" dirty="0">
                <a:solidFill>
                  <a:schemeClr val="tx1"/>
                </a:solidFill>
              </a:rPr>
              <a:t>stores</a:t>
            </a:r>
            <a:r>
              <a:rPr lang="en-US" sz="2100" dirty="0">
                <a:solidFill>
                  <a:schemeClr val="tx1"/>
                </a:solidFill>
              </a:rPr>
              <a:t> and </a:t>
            </a:r>
            <a:r>
              <a:rPr lang="en-US" sz="2100" b="1" dirty="0">
                <a:solidFill>
                  <a:schemeClr val="tx1"/>
                </a:solidFill>
              </a:rPr>
              <a:t>customers</a:t>
            </a:r>
            <a:r>
              <a:rPr lang="en-US" sz="2100" dirty="0">
                <a:solidFill>
                  <a:schemeClr val="tx1"/>
                </a:solidFill>
              </a:rPr>
              <a:t>, aiming to identify how the sale of certain products has impacted the overall margin.</a:t>
            </a:r>
          </a:p>
          <a:p>
            <a:r>
              <a:rPr lang="en-US" sz="2100" dirty="0">
                <a:solidFill>
                  <a:schemeClr val="tx1"/>
                </a:solidFill>
              </a:rPr>
              <a:t>There are 3 dashboards, each dedicated to one of these elements.</a:t>
            </a:r>
          </a:p>
          <a:p>
            <a:endParaRPr lang="en-US" dirty="0"/>
          </a:p>
        </p:txBody>
      </p:sp>
      <p:pic>
        <p:nvPicPr>
          <p:cNvPr id="4" name="Picture 3">
            <a:extLst>
              <a:ext uri="{FF2B5EF4-FFF2-40B4-BE49-F238E27FC236}">
                <a16:creationId xmlns:a16="http://schemas.microsoft.com/office/drawing/2014/main" id="{525887A8-0C46-B1EF-81C1-351E11A8B116}"/>
              </a:ext>
            </a:extLst>
          </p:cNvPr>
          <p:cNvPicPr>
            <a:picLocks noChangeAspect="1"/>
          </p:cNvPicPr>
          <p:nvPr/>
        </p:nvPicPr>
        <p:blipFill>
          <a:blip r:embed="rId2"/>
          <a:stretch>
            <a:fillRect/>
          </a:stretch>
        </p:blipFill>
        <p:spPr>
          <a:xfrm>
            <a:off x="7877015" y="3645277"/>
            <a:ext cx="3966517" cy="2138493"/>
          </a:xfrm>
          <a:prstGeom prst="rect">
            <a:avLst/>
          </a:prstGeom>
        </p:spPr>
      </p:pic>
      <p:pic>
        <p:nvPicPr>
          <p:cNvPr id="5" name="Picture 4">
            <a:extLst>
              <a:ext uri="{FF2B5EF4-FFF2-40B4-BE49-F238E27FC236}">
                <a16:creationId xmlns:a16="http://schemas.microsoft.com/office/drawing/2014/main" id="{133BA7C3-B1EA-836D-C5EB-A3259D94AB41}"/>
              </a:ext>
            </a:extLst>
          </p:cNvPr>
          <p:cNvPicPr>
            <a:picLocks noChangeAspect="1"/>
          </p:cNvPicPr>
          <p:nvPr/>
        </p:nvPicPr>
        <p:blipFill>
          <a:blip r:embed="rId3"/>
          <a:srcRect r="10524"/>
          <a:stretch/>
        </p:blipFill>
        <p:spPr>
          <a:xfrm>
            <a:off x="4001303" y="3658418"/>
            <a:ext cx="3785188" cy="2062618"/>
          </a:xfrm>
          <a:prstGeom prst="rect">
            <a:avLst/>
          </a:prstGeom>
        </p:spPr>
      </p:pic>
      <p:grpSp>
        <p:nvGrpSpPr>
          <p:cNvPr id="6" name="Group 5" descr="Small circle with number 1 inside indicating step 1">
            <a:extLst>
              <a:ext uri="{FF2B5EF4-FFF2-40B4-BE49-F238E27FC236}">
                <a16:creationId xmlns:a16="http://schemas.microsoft.com/office/drawing/2014/main" id="{0C6F6E5F-5B47-888E-DBBC-B579BF264598}"/>
              </a:ext>
            </a:extLst>
          </p:cNvPr>
          <p:cNvGrpSpPr/>
          <p:nvPr/>
        </p:nvGrpSpPr>
        <p:grpSpPr bwMode="blackWhite">
          <a:xfrm>
            <a:off x="558723" y="2966785"/>
            <a:ext cx="558179" cy="409838"/>
            <a:chOff x="6953426" y="711274"/>
            <a:chExt cx="558179" cy="409838"/>
          </a:xfrm>
        </p:grpSpPr>
        <p:sp>
          <p:nvSpPr>
            <p:cNvPr id="7" name="Oval 6" descr="Small circle">
              <a:extLst>
                <a:ext uri="{FF2B5EF4-FFF2-40B4-BE49-F238E27FC236}">
                  <a16:creationId xmlns:a16="http://schemas.microsoft.com/office/drawing/2014/main" id="{B8D68151-8369-7283-2824-2A151A32AED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descr="Number 1">
              <a:extLst>
                <a:ext uri="{FF2B5EF4-FFF2-40B4-BE49-F238E27FC236}">
                  <a16:creationId xmlns:a16="http://schemas.microsoft.com/office/drawing/2014/main" id="{9FD8A694-CA5A-73BE-F762-2F9720F4E4E0}"/>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9" name="Content Placeholder 17">
            <a:extLst>
              <a:ext uri="{FF2B5EF4-FFF2-40B4-BE49-F238E27FC236}">
                <a16:creationId xmlns:a16="http://schemas.microsoft.com/office/drawing/2014/main" id="{C660296F-552E-9B22-24F5-FDF5185BF2F7}"/>
              </a:ext>
            </a:extLst>
          </p:cNvPr>
          <p:cNvSpPr txBox="1">
            <a:spLocks/>
          </p:cNvSpPr>
          <p:nvPr/>
        </p:nvSpPr>
        <p:spPr>
          <a:xfrm>
            <a:off x="1066039" y="3006978"/>
            <a:ext cx="2696774" cy="409838"/>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400" dirty="0">
                <a:solidFill>
                  <a:prstClr val="black">
                    <a:lumMod val="75000"/>
                    <a:lumOff val="25000"/>
                  </a:prstClr>
                </a:solidFill>
                <a:latin typeface="Segoe UI" panose="020B0502040204020203" pitchFamily="34" charset="0"/>
                <a:cs typeface="Segoe UI" panose="020B0502040204020203" pitchFamily="34" charset="0"/>
              </a:rPr>
              <a:t>Customers</a:t>
            </a:r>
          </a:p>
        </p:txBody>
      </p:sp>
      <p:grpSp>
        <p:nvGrpSpPr>
          <p:cNvPr id="10" name="Group 9" descr="Small circle with number 2 inside indicating step 2">
            <a:extLst>
              <a:ext uri="{FF2B5EF4-FFF2-40B4-BE49-F238E27FC236}">
                <a16:creationId xmlns:a16="http://schemas.microsoft.com/office/drawing/2014/main" id="{E240EB1F-3989-85CB-DFD3-46527273A5F8}"/>
              </a:ext>
            </a:extLst>
          </p:cNvPr>
          <p:cNvGrpSpPr/>
          <p:nvPr/>
        </p:nvGrpSpPr>
        <p:grpSpPr bwMode="blackWhite">
          <a:xfrm>
            <a:off x="4249102" y="2966785"/>
            <a:ext cx="558179" cy="409838"/>
            <a:chOff x="6953426" y="711274"/>
            <a:chExt cx="558179" cy="409838"/>
          </a:xfrm>
        </p:grpSpPr>
        <p:sp>
          <p:nvSpPr>
            <p:cNvPr id="11" name="Oval 10" descr="Small circle">
              <a:extLst>
                <a:ext uri="{FF2B5EF4-FFF2-40B4-BE49-F238E27FC236}">
                  <a16:creationId xmlns:a16="http://schemas.microsoft.com/office/drawing/2014/main" id="{356F9CC0-B238-B0A9-F5D5-D2242C653BD2}"/>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descr="Number 2">
              <a:extLst>
                <a:ext uri="{FF2B5EF4-FFF2-40B4-BE49-F238E27FC236}">
                  <a16:creationId xmlns:a16="http://schemas.microsoft.com/office/drawing/2014/main" id="{42F1B2ED-666E-6EB1-108D-E3BD5B083AE1}"/>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3" name="Content Placeholder 17">
            <a:extLst>
              <a:ext uri="{FF2B5EF4-FFF2-40B4-BE49-F238E27FC236}">
                <a16:creationId xmlns:a16="http://schemas.microsoft.com/office/drawing/2014/main" id="{530578E2-8050-489D-1582-A8D231462076}"/>
              </a:ext>
            </a:extLst>
          </p:cNvPr>
          <p:cNvSpPr txBox="1">
            <a:spLocks/>
          </p:cNvSpPr>
          <p:nvPr/>
        </p:nvSpPr>
        <p:spPr>
          <a:xfrm>
            <a:off x="4747855" y="3006978"/>
            <a:ext cx="3106367" cy="34543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400" dirty="0">
                <a:solidFill>
                  <a:prstClr val="black">
                    <a:lumMod val="75000"/>
                    <a:lumOff val="25000"/>
                  </a:prstClr>
                </a:solidFill>
                <a:latin typeface="Segoe UI" panose="020B0502040204020203" pitchFamily="34" charset="0"/>
                <a:cs typeface="Segoe UI" panose="020B0502040204020203" pitchFamily="34" charset="0"/>
              </a:rPr>
              <a:t>Products</a:t>
            </a:r>
          </a:p>
        </p:txBody>
      </p:sp>
      <p:grpSp>
        <p:nvGrpSpPr>
          <p:cNvPr id="14" name="Group 13" descr="Small circle with number 3 inside  indicating step 3">
            <a:extLst>
              <a:ext uri="{FF2B5EF4-FFF2-40B4-BE49-F238E27FC236}">
                <a16:creationId xmlns:a16="http://schemas.microsoft.com/office/drawing/2014/main" id="{8F63D4E4-FC00-4A9B-B002-AC6EF74E90B7}"/>
              </a:ext>
            </a:extLst>
          </p:cNvPr>
          <p:cNvGrpSpPr/>
          <p:nvPr/>
        </p:nvGrpSpPr>
        <p:grpSpPr bwMode="blackWhite">
          <a:xfrm>
            <a:off x="7930921" y="2966785"/>
            <a:ext cx="558179" cy="409838"/>
            <a:chOff x="6953426" y="711274"/>
            <a:chExt cx="558179" cy="409838"/>
          </a:xfrm>
        </p:grpSpPr>
        <p:sp>
          <p:nvSpPr>
            <p:cNvPr id="15" name="Oval 14" descr="Small circle">
              <a:extLst>
                <a:ext uri="{FF2B5EF4-FFF2-40B4-BE49-F238E27FC236}">
                  <a16:creationId xmlns:a16="http://schemas.microsoft.com/office/drawing/2014/main" id="{8271E58F-86BD-E0D4-BFE5-F23E753D5DB9}"/>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descr="Number 3">
              <a:extLst>
                <a:ext uri="{FF2B5EF4-FFF2-40B4-BE49-F238E27FC236}">
                  <a16:creationId xmlns:a16="http://schemas.microsoft.com/office/drawing/2014/main" id="{C14F526B-171A-631A-E7C3-F64077D20832}"/>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7" name="Content Placeholder 17">
            <a:extLst>
              <a:ext uri="{FF2B5EF4-FFF2-40B4-BE49-F238E27FC236}">
                <a16:creationId xmlns:a16="http://schemas.microsoft.com/office/drawing/2014/main" id="{8F453874-6F12-551B-8614-2019074914D1}"/>
              </a:ext>
            </a:extLst>
          </p:cNvPr>
          <p:cNvSpPr txBox="1">
            <a:spLocks/>
          </p:cNvSpPr>
          <p:nvPr/>
        </p:nvSpPr>
        <p:spPr>
          <a:xfrm>
            <a:off x="8429669" y="3006977"/>
            <a:ext cx="1583722" cy="4098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it-IT" sz="1400" dirty="0">
                <a:solidFill>
                  <a:prstClr val="black">
                    <a:lumMod val="75000"/>
                    <a:lumOff val="25000"/>
                  </a:prstClr>
                </a:solidFill>
                <a:latin typeface="Segoe UI" panose="020B0502040204020203" pitchFamily="34" charset="0"/>
                <a:cs typeface="Segoe UI" panose="020B0502040204020203" pitchFamily="34" charset="0"/>
              </a:rPr>
              <a:t>Stores</a:t>
            </a:r>
            <a:endParaRPr lang="en-US" sz="14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18" name="Picture 17">
            <a:extLst>
              <a:ext uri="{FF2B5EF4-FFF2-40B4-BE49-F238E27FC236}">
                <a16:creationId xmlns:a16="http://schemas.microsoft.com/office/drawing/2014/main" id="{B0B10DF2-B0D0-1974-33B0-086A18D273FA}"/>
              </a:ext>
            </a:extLst>
          </p:cNvPr>
          <p:cNvPicPr>
            <a:picLocks noChangeAspect="1"/>
          </p:cNvPicPr>
          <p:nvPr/>
        </p:nvPicPr>
        <p:blipFill>
          <a:blip r:embed="rId4"/>
          <a:srcRect r="11642"/>
          <a:stretch/>
        </p:blipFill>
        <p:spPr>
          <a:xfrm>
            <a:off x="267201" y="3661290"/>
            <a:ext cx="3588637" cy="1954442"/>
          </a:xfrm>
          <a:prstGeom prst="rect">
            <a:avLst/>
          </a:prstGeom>
        </p:spPr>
      </p:pic>
      <p:sp>
        <p:nvSpPr>
          <p:cNvPr id="29" name="Slide Number Placeholder 28">
            <a:extLst>
              <a:ext uri="{FF2B5EF4-FFF2-40B4-BE49-F238E27FC236}">
                <a16:creationId xmlns:a16="http://schemas.microsoft.com/office/drawing/2014/main" id="{5C2B560F-E3A2-82A2-B01F-B5F80F2C3529}"/>
              </a:ext>
            </a:extLst>
          </p:cNvPr>
          <p:cNvSpPr>
            <a:spLocks noGrp="1"/>
          </p:cNvSpPr>
          <p:nvPr>
            <p:ph type="sldNum" sz="quarter" idx="4"/>
          </p:nvPr>
        </p:nvSpPr>
        <p:spPr/>
        <p:txBody>
          <a:bodyPr/>
          <a:lstStyle/>
          <a:p>
            <a:fld id="{9860EDB8-5305-433F-BE41-D7A86D811DB3}" type="slidenum">
              <a:rPr lang="en-US" smtClean="0"/>
              <a:pPr/>
              <a:t>5</a:t>
            </a:fld>
            <a:endParaRPr lang="en-US" dirty="0"/>
          </a:p>
        </p:txBody>
      </p:sp>
    </p:spTree>
    <p:extLst>
      <p:ext uri="{BB962C8B-B14F-4D97-AF65-F5344CB8AC3E}">
        <p14:creationId xmlns:p14="http://schemas.microsoft.com/office/powerpoint/2010/main" val="4229675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4CEE-D4B9-AC27-6825-F563E1877F11}"/>
              </a:ext>
            </a:extLst>
          </p:cNvPr>
          <p:cNvSpPr>
            <a:spLocks noGrp="1"/>
          </p:cNvSpPr>
          <p:nvPr>
            <p:ph type="title"/>
          </p:nvPr>
        </p:nvSpPr>
        <p:spPr/>
        <p:txBody>
          <a:bodyPr/>
          <a:lstStyle/>
          <a:p>
            <a:r>
              <a:rPr lang="it-IT" b="1" dirty="0">
                <a:solidFill>
                  <a:srgbClr val="C00000"/>
                </a:solidFill>
              </a:rPr>
              <a:t>3. </a:t>
            </a:r>
            <a:r>
              <a:rPr lang="it-IT" dirty="0"/>
              <a:t>Dashboards </a:t>
            </a:r>
            <a:endParaRPr lang="en-US" dirty="0"/>
          </a:p>
        </p:txBody>
      </p:sp>
      <p:pic>
        <p:nvPicPr>
          <p:cNvPr id="4" name="Picture 3">
            <a:extLst>
              <a:ext uri="{FF2B5EF4-FFF2-40B4-BE49-F238E27FC236}">
                <a16:creationId xmlns:a16="http://schemas.microsoft.com/office/drawing/2014/main" id="{CF4571DF-248A-9730-B354-5E04F4A07BD4}"/>
              </a:ext>
            </a:extLst>
          </p:cNvPr>
          <p:cNvPicPr>
            <a:picLocks noChangeAspect="1"/>
          </p:cNvPicPr>
          <p:nvPr/>
        </p:nvPicPr>
        <p:blipFill>
          <a:blip r:embed="rId2"/>
          <a:stretch>
            <a:fillRect/>
          </a:stretch>
        </p:blipFill>
        <p:spPr>
          <a:xfrm>
            <a:off x="7877015" y="2495204"/>
            <a:ext cx="3966517" cy="2138493"/>
          </a:xfrm>
          <a:prstGeom prst="rect">
            <a:avLst/>
          </a:prstGeom>
        </p:spPr>
      </p:pic>
      <p:pic>
        <p:nvPicPr>
          <p:cNvPr id="5" name="Picture 4">
            <a:extLst>
              <a:ext uri="{FF2B5EF4-FFF2-40B4-BE49-F238E27FC236}">
                <a16:creationId xmlns:a16="http://schemas.microsoft.com/office/drawing/2014/main" id="{6D12AC2B-26BA-E916-D404-E2930192AC3F}"/>
              </a:ext>
            </a:extLst>
          </p:cNvPr>
          <p:cNvPicPr>
            <a:picLocks noChangeAspect="1"/>
          </p:cNvPicPr>
          <p:nvPr/>
        </p:nvPicPr>
        <p:blipFill>
          <a:blip r:embed="rId3"/>
          <a:srcRect r="10524"/>
          <a:stretch/>
        </p:blipFill>
        <p:spPr>
          <a:xfrm>
            <a:off x="4001303" y="2508345"/>
            <a:ext cx="3785188" cy="2062618"/>
          </a:xfrm>
          <a:prstGeom prst="rect">
            <a:avLst/>
          </a:prstGeom>
        </p:spPr>
      </p:pic>
      <p:grpSp>
        <p:nvGrpSpPr>
          <p:cNvPr id="6" name="Group 5" descr="Small circle with number 1 inside indicating step 1">
            <a:extLst>
              <a:ext uri="{FF2B5EF4-FFF2-40B4-BE49-F238E27FC236}">
                <a16:creationId xmlns:a16="http://schemas.microsoft.com/office/drawing/2014/main" id="{F43A84B6-87AA-8665-23BB-14597E505AAF}"/>
              </a:ext>
            </a:extLst>
          </p:cNvPr>
          <p:cNvGrpSpPr/>
          <p:nvPr/>
        </p:nvGrpSpPr>
        <p:grpSpPr bwMode="blackWhite">
          <a:xfrm>
            <a:off x="558723" y="1816712"/>
            <a:ext cx="558179" cy="409838"/>
            <a:chOff x="6953426" y="711274"/>
            <a:chExt cx="558179" cy="409838"/>
          </a:xfrm>
        </p:grpSpPr>
        <p:sp>
          <p:nvSpPr>
            <p:cNvPr id="7" name="Oval 6" descr="Small circle">
              <a:extLst>
                <a:ext uri="{FF2B5EF4-FFF2-40B4-BE49-F238E27FC236}">
                  <a16:creationId xmlns:a16="http://schemas.microsoft.com/office/drawing/2014/main" id="{1595501E-D033-C7B8-24DA-DFB7594E116F}"/>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descr="Number 1">
              <a:extLst>
                <a:ext uri="{FF2B5EF4-FFF2-40B4-BE49-F238E27FC236}">
                  <a16:creationId xmlns:a16="http://schemas.microsoft.com/office/drawing/2014/main" id="{235277C3-4463-8A34-A94A-C42ECAE6CFE2}"/>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9" name="Content Placeholder 17">
            <a:extLst>
              <a:ext uri="{FF2B5EF4-FFF2-40B4-BE49-F238E27FC236}">
                <a16:creationId xmlns:a16="http://schemas.microsoft.com/office/drawing/2014/main" id="{72FE6ED8-8742-B3C6-C502-6A153F88EA69}"/>
              </a:ext>
            </a:extLst>
          </p:cNvPr>
          <p:cNvSpPr txBox="1">
            <a:spLocks/>
          </p:cNvSpPr>
          <p:nvPr/>
        </p:nvSpPr>
        <p:spPr>
          <a:xfrm>
            <a:off x="1066039" y="1856905"/>
            <a:ext cx="2696774" cy="409838"/>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400" dirty="0">
                <a:solidFill>
                  <a:prstClr val="black">
                    <a:lumMod val="75000"/>
                    <a:lumOff val="25000"/>
                  </a:prstClr>
                </a:solidFill>
                <a:latin typeface="Segoe UI" panose="020B0502040204020203" pitchFamily="34" charset="0"/>
                <a:cs typeface="Segoe UI" panose="020B0502040204020203" pitchFamily="34" charset="0"/>
              </a:rPr>
              <a:t>Customers</a:t>
            </a:r>
          </a:p>
        </p:txBody>
      </p:sp>
      <p:grpSp>
        <p:nvGrpSpPr>
          <p:cNvPr id="10" name="Group 9" descr="Small circle with number 2 inside indicating step 2">
            <a:extLst>
              <a:ext uri="{FF2B5EF4-FFF2-40B4-BE49-F238E27FC236}">
                <a16:creationId xmlns:a16="http://schemas.microsoft.com/office/drawing/2014/main" id="{17B0996E-EAB9-169C-22A5-FB3D648341D7}"/>
              </a:ext>
            </a:extLst>
          </p:cNvPr>
          <p:cNvGrpSpPr/>
          <p:nvPr/>
        </p:nvGrpSpPr>
        <p:grpSpPr bwMode="blackWhite">
          <a:xfrm>
            <a:off x="4249102" y="1816712"/>
            <a:ext cx="558179" cy="409838"/>
            <a:chOff x="6953426" y="711274"/>
            <a:chExt cx="558179" cy="409838"/>
          </a:xfrm>
        </p:grpSpPr>
        <p:sp>
          <p:nvSpPr>
            <p:cNvPr id="11" name="Oval 10" descr="Small circle">
              <a:extLst>
                <a:ext uri="{FF2B5EF4-FFF2-40B4-BE49-F238E27FC236}">
                  <a16:creationId xmlns:a16="http://schemas.microsoft.com/office/drawing/2014/main" id="{15422E2F-3BD4-2940-2365-4E384065C577}"/>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descr="Number 2">
              <a:extLst>
                <a:ext uri="{FF2B5EF4-FFF2-40B4-BE49-F238E27FC236}">
                  <a16:creationId xmlns:a16="http://schemas.microsoft.com/office/drawing/2014/main" id="{5B5AD72E-6763-0443-38DD-F2AC4F6CCF3A}"/>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3" name="Content Placeholder 17">
            <a:extLst>
              <a:ext uri="{FF2B5EF4-FFF2-40B4-BE49-F238E27FC236}">
                <a16:creationId xmlns:a16="http://schemas.microsoft.com/office/drawing/2014/main" id="{EEF48641-AF9D-6B7F-0D7C-461936AEF0E6}"/>
              </a:ext>
            </a:extLst>
          </p:cNvPr>
          <p:cNvSpPr txBox="1">
            <a:spLocks/>
          </p:cNvSpPr>
          <p:nvPr/>
        </p:nvSpPr>
        <p:spPr>
          <a:xfrm>
            <a:off x="4747855" y="1856905"/>
            <a:ext cx="3106367" cy="34543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400" dirty="0">
                <a:solidFill>
                  <a:prstClr val="black">
                    <a:lumMod val="75000"/>
                    <a:lumOff val="25000"/>
                  </a:prstClr>
                </a:solidFill>
                <a:latin typeface="Segoe UI" panose="020B0502040204020203" pitchFamily="34" charset="0"/>
                <a:cs typeface="Segoe UI" panose="020B0502040204020203" pitchFamily="34" charset="0"/>
              </a:rPr>
              <a:t>Products</a:t>
            </a:r>
          </a:p>
        </p:txBody>
      </p:sp>
      <p:grpSp>
        <p:nvGrpSpPr>
          <p:cNvPr id="14" name="Group 13" descr="Small circle with number 3 inside  indicating step 3">
            <a:extLst>
              <a:ext uri="{FF2B5EF4-FFF2-40B4-BE49-F238E27FC236}">
                <a16:creationId xmlns:a16="http://schemas.microsoft.com/office/drawing/2014/main" id="{E53D7AAC-365A-9EB1-7BED-20CBE2B121CA}"/>
              </a:ext>
            </a:extLst>
          </p:cNvPr>
          <p:cNvGrpSpPr/>
          <p:nvPr/>
        </p:nvGrpSpPr>
        <p:grpSpPr bwMode="blackWhite">
          <a:xfrm>
            <a:off x="7930921" y="1816712"/>
            <a:ext cx="558179" cy="409838"/>
            <a:chOff x="6953426" y="711274"/>
            <a:chExt cx="558179" cy="409838"/>
          </a:xfrm>
        </p:grpSpPr>
        <p:sp>
          <p:nvSpPr>
            <p:cNvPr id="15" name="Oval 14" descr="Small circle">
              <a:extLst>
                <a:ext uri="{FF2B5EF4-FFF2-40B4-BE49-F238E27FC236}">
                  <a16:creationId xmlns:a16="http://schemas.microsoft.com/office/drawing/2014/main" id="{F3EB8485-9C93-47C7-F57B-BEDF49CCB5B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descr="Number 3">
              <a:extLst>
                <a:ext uri="{FF2B5EF4-FFF2-40B4-BE49-F238E27FC236}">
                  <a16:creationId xmlns:a16="http://schemas.microsoft.com/office/drawing/2014/main" id="{1B48CDA2-DC55-9848-0B26-B9F2DDACBB7B}"/>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7" name="Content Placeholder 17">
            <a:extLst>
              <a:ext uri="{FF2B5EF4-FFF2-40B4-BE49-F238E27FC236}">
                <a16:creationId xmlns:a16="http://schemas.microsoft.com/office/drawing/2014/main" id="{2F9466A1-32BD-61D8-A090-14E8E72B8876}"/>
              </a:ext>
            </a:extLst>
          </p:cNvPr>
          <p:cNvSpPr txBox="1">
            <a:spLocks/>
          </p:cNvSpPr>
          <p:nvPr/>
        </p:nvSpPr>
        <p:spPr>
          <a:xfrm>
            <a:off x="8429669" y="1856904"/>
            <a:ext cx="1583722" cy="4098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it-IT" sz="1400" dirty="0">
                <a:solidFill>
                  <a:prstClr val="black">
                    <a:lumMod val="75000"/>
                    <a:lumOff val="25000"/>
                  </a:prstClr>
                </a:solidFill>
                <a:latin typeface="Segoe UI" panose="020B0502040204020203" pitchFamily="34" charset="0"/>
                <a:cs typeface="Segoe UI" panose="020B0502040204020203" pitchFamily="34" charset="0"/>
              </a:rPr>
              <a:t>Stores</a:t>
            </a:r>
            <a:endParaRPr lang="en-US" sz="14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18" name="Picture 17">
            <a:extLst>
              <a:ext uri="{FF2B5EF4-FFF2-40B4-BE49-F238E27FC236}">
                <a16:creationId xmlns:a16="http://schemas.microsoft.com/office/drawing/2014/main" id="{79A0097C-093F-21C2-9B52-8F464DDC11BE}"/>
              </a:ext>
            </a:extLst>
          </p:cNvPr>
          <p:cNvPicPr>
            <a:picLocks noChangeAspect="1"/>
          </p:cNvPicPr>
          <p:nvPr/>
        </p:nvPicPr>
        <p:blipFill>
          <a:blip r:embed="rId4"/>
          <a:srcRect r="11642"/>
          <a:stretch/>
        </p:blipFill>
        <p:spPr>
          <a:xfrm>
            <a:off x="267201" y="2511217"/>
            <a:ext cx="3588637" cy="1954442"/>
          </a:xfrm>
          <a:prstGeom prst="rect">
            <a:avLst/>
          </a:prstGeom>
        </p:spPr>
      </p:pic>
      <p:sp>
        <p:nvSpPr>
          <p:cNvPr id="19" name="Oval 18">
            <a:extLst>
              <a:ext uri="{FF2B5EF4-FFF2-40B4-BE49-F238E27FC236}">
                <a16:creationId xmlns:a16="http://schemas.microsoft.com/office/drawing/2014/main" id="{F1E62641-2DC2-D810-60E6-B24DD7D8CD3B}"/>
              </a:ext>
            </a:extLst>
          </p:cNvPr>
          <p:cNvSpPr/>
          <p:nvPr/>
        </p:nvSpPr>
        <p:spPr>
          <a:xfrm>
            <a:off x="4002959" y="2570701"/>
            <a:ext cx="3970763" cy="987812"/>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0" name="Oval 19">
            <a:extLst>
              <a:ext uri="{FF2B5EF4-FFF2-40B4-BE49-F238E27FC236}">
                <a16:creationId xmlns:a16="http://schemas.microsoft.com/office/drawing/2014/main" id="{C53F6A80-FE17-C605-AFE2-489EB3DA9696}"/>
              </a:ext>
            </a:extLst>
          </p:cNvPr>
          <p:cNvSpPr/>
          <p:nvPr/>
        </p:nvSpPr>
        <p:spPr>
          <a:xfrm>
            <a:off x="9554874" y="2505795"/>
            <a:ext cx="2288658" cy="1006005"/>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1" name="Oval 20">
            <a:extLst>
              <a:ext uri="{FF2B5EF4-FFF2-40B4-BE49-F238E27FC236}">
                <a16:creationId xmlns:a16="http://schemas.microsoft.com/office/drawing/2014/main" id="{C12F07FD-6D9B-3673-2F74-A882A96D58CD}"/>
              </a:ext>
            </a:extLst>
          </p:cNvPr>
          <p:cNvSpPr/>
          <p:nvPr/>
        </p:nvSpPr>
        <p:spPr>
          <a:xfrm>
            <a:off x="928212" y="2495204"/>
            <a:ext cx="2073296" cy="1006185"/>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2" name="Oval 21">
            <a:extLst>
              <a:ext uri="{FF2B5EF4-FFF2-40B4-BE49-F238E27FC236}">
                <a16:creationId xmlns:a16="http://schemas.microsoft.com/office/drawing/2014/main" id="{EA5E1F48-8DAD-A30F-4CD2-56BD1C402E3B}"/>
              </a:ext>
            </a:extLst>
          </p:cNvPr>
          <p:cNvSpPr/>
          <p:nvPr/>
        </p:nvSpPr>
        <p:spPr>
          <a:xfrm>
            <a:off x="1116902" y="3516594"/>
            <a:ext cx="2833415" cy="1085795"/>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3" name="Oval 22">
            <a:extLst>
              <a:ext uri="{FF2B5EF4-FFF2-40B4-BE49-F238E27FC236}">
                <a16:creationId xmlns:a16="http://schemas.microsoft.com/office/drawing/2014/main" id="{2529D924-2CC9-004E-05EE-090D721FFED3}"/>
              </a:ext>
            </a:extLst>
          </p:cNvPr>
          <p:cNvSpPr/>
          <p:nvPr/>
        </p:nvSpPr>
        <p:spPr>
          <a:xfrm>
            <a:off x="4088419" y="3547903"/>
            <a:ext cx="3739132" cy="1085795"/>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7" name="TextBox 26">
            <a:extLst>
              <a:ext uri="{FF2B5EF4-FFF2-40B4-BE49-F238E27FC236}">
                <a16:creationId xmlns:a16="http://schemas.microsoft.com/office/drawing/2014/main" id="{7D29160B-02FE-DE38-04CF-1675FE1A8DB3}"/>
              </a:ext>
            </a:extLst>
          </p:cNvPr>
          <p:cNvSpPr txBox="1"/>
          <p:nvPr/>
        </p:nvSpPr>
        <p:spPr>
          <a:xfrm>
            <a:off x="630366" y="5248092"/>
            <a:ext cx="10992883" cy="1015663"/>
          </a:xfrm>
          <a:prstGeom prst="rect">
            <a:avLst/>
          </a:prstGeom>
          <a:noFill/>
        </p:spPr>
        <p:txBody>
          <a:bodyPr wrap="square">
            <a:spAutoFit/>
          </a:bodyPr>
          <a:lstStyle/>
          <a:p>
            <a:pPr marL="285750" indent="-285750">
              <a:buFont typeface="Arial" panose="020B0604020202020204" pitchFamily="34" charset="0"/>
              <a:buChar char="•"/>
            </a:pPr>
            <a:r>
              <a:rPr lang="en-US" sz="1500" dirty="0"/>
              <a:t>The same </a:t>
            </a:r>
            <a:r>
              <a:rPr lang="en-US" sz="1500" b="1" dirty="0"/>
              <a:t>product </a:t>
            </a:r>
            <a:r>
              <a:rPr lang="en-US" sz="1500" dirty="0"/>
              <a:t>indicators and </a:t>
            </a:r>
            <a:r>
              <a:rPr lang="en-US" sz="1500" b="1" dirty="0"/>
              <a:t>key</a:t>
            </a:r>
            <a:r>
              <a:rPr lang="en-US" sz="1500" dirty="0"/>
              <a:t> indicators are present on all 3 dashboards</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The key indicators on the customer dashboard differ only in color (by Civility), but analyze the same aspects as on the other dashboards.</a:t>
            </a:r>
          </a:p>
        </p:txBody>
      </p:sp>
      <p:sp>
        <p:nvSpPr>
          <p:cNvPr id="28" name="Oval 27">
            <a:extLst>
              <a:ext uri="{FF2B5EF4-FFF2-40B4-BE49-F238E27FC236}">
                <a16:creationId xmlns:a16="http://schemas.microsoft.com/office/drawing/2014/main" id="{8FB15C5B-9DBE-4446-DA38-DDCF948C2143}"/>
              </a:ext>
            </a:extLst>
          </p:cNvPr>
          <p:cNvSpPr/>
          <p:nvPr/>
        </p:nvSpPr>
        <p:spPr>
          <a:xfrm>
            <a:off x="9785023" y="3666560"/>
            <a:ext cx="2288658" cy="1085795"/>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2" name="Oval 31">
            <a:extLst>
              <a:ext uri="{FF2B5EF4-FFF2-40B4-BE49-F238E27FC236}">
                <a16:creationId xmlns:a16="http://schemas.microsoft.com/office/drawing/2014/main" id="{C3C9336D-8F3F-9EDE-588C-B0D7CF0075BD}"/>
              </a:ext>
            </a:extLst>
          </p:cNvPr>
          <p:cNvSpPr/>
          <p:nvPr/>
        </p:nvSpPr>
        <p:spPr>
          <a:xfrm rot="16200000">
            <a:off x="-358553" y="2941617"/>
            <a:ext cx="2009930" cy="1085795"/>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3" name="Oval 32">
            <a:extLst>
              <a:ext uri="{FF2B5EF4-FFF2-40B4-BE49-F238E27FC236}">
                <a16:creationId xmlns:a16="http://schemas.microsoft.com/office/drawing/2014/main" id="{AA579FF4-E35E-D018-FB18-D50280AFEAEE}"/>
              </a:ext>
            </a:extLst>
          </p:cNvPr>
          <p:cNvSpPr/>
          <p:nvPr/>
        </p:nvSpPr>
        <p:spPr>
          <a:xfrm rot="16200000">
            <a:off x="2928267" y="2385990"/>
            <a:ext cx="977203" cy="1085795"/>
          </a:xfrm>
          <a:prstGeom prst="ellipse">
            <a:avLst/>
          </a:prstGeom>
          <a:noFill/>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4" name="Oval 33">
            <a:extLst>
              <a:ext uri="{FF2B5EF4-FFF2-40B4-BE49-F238E27FC236}">
                <a16:creationId xmlns:a16="http://schemas.microsoft.com/office/drawing/2014/main" id="{831B0B13-6412-4C12-0B91-88B0F98D2632}"/>
              </a:ext>
            </a:extLst>
          </p:cNvPr>
          <p:cNvSpPr/>
          <p:nvPr/>
        </p:nvSpPr>
        <p:spPr>
          <a:xfrm rot="16200000">
            <a:off x="7579867" y="2492066"/>
            <a:ext cx="2289280" cy="2121032"/>
          </a:xfrm>
          <a:prstGeom prst="ellipse">
            <a:avLst/>
          </a:prstGeom>
          <a:noFill/>
          <a:ln w="28575">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5" name="TextBox 34">
            <a:extLst>
              <a:ext uri="{FF2B5EF4-FFF2-40B4-BE49-F238E27FC236}">
                <a16:creationId xmlns:a16="http://schemas.microsoft.com/office/drawing/2014/main" id="{55F62EB7-F465-E26B-CBA5-F0D91D0C4C82}"/>
              </a:ext>
            </a:extLst>
          </p:cNvPr>
          <p:cNvSpPr txBox="1"/>
          <p:nvPr/>
        </p:nvSpPr>
        <p:spPr>
          <a:xfrm>
            <a:off x="521207" y="1298003"/>
            <a:ext cx="11893393" cy="553998"/>
          </a:xfrm>
          <a:prstGeom prst="rect">
            <a:avLst/>
          </a:prstGeom>
          <a:noFill/>
        </p:spPr>
        <p:txBody>
          <a:bodyPr wrap="square">
            <a:spAutoFit/>
          </a:bodyPr>
          <a:lstStyle/>
          <a:p>
            <a:r>
              <a:rPr lang="en-US" sz="1500" dirty="0"/>
              <a:t>The indicators are divided into </a:t>
            </a:r>
            <a:r>
              <a:rPr lang="en-US" sz="1500" b="1" dirty="0">
                <a:solidFill>
                  <a:schemeClr val="accent6"/>
                </a:solidFill>
              </a:rPr>
              <a:t>key</a:t>
            </a:r>
            <a:r>
              <a:rPr lang="en-US" sz="1500" b="1" dirty="0"/>
              <a:t> </a:t>
            </a:r>
            <a:r>
              <a:rPr lang="en-US" sz="1500" dirty="0"/>
              <a:t>indicators, </a:t>
            </a:r>
            <a:r>
              <a:rPr lang="en-US" sz="1500" b="1" dirty="0">
                <a:solidFill>
                  <a:schemeClr val="accent2"/>
                </a:solidFill>
              </a:rPr>
              <a:t>product</a:t>
            </a:r>
            <a:r>
              <a:rPr lang="en-US" sz="1500" b="1" dirty="0"/>
              <a:t> </a:t>
            </a:r>
            <a:r>
              <a:rPr lang="en-US" sz="1500" dirty="0"/>
              <a:t>indicators, </a:t>
            </a:r>
            <a:r>
              <a:rPr lang="en-US" sz="1500" b="1" dirty="0">
                <a:solidFill>
                  <a:schemeClr val="accent1"/>
                </a:solidFill>
              </a:rPr>
              <a:t>customer</a:t>
            </a:r>
            <a:r>
              <a:rPr lang="en-US" sz="1500" dirty="0"/>
              <a:t> indicators, and</a:t>
            </a:r>
            <a:r>
              <a:rPr lang="en-US" sz="1500" b="1" dirty="0"/>
              <a:t> </a:t>
            </a:r>
            <a:r>
              <a:rPr lang="en-US" sz="1500" b="1" dirty="0">
                <a:solidFill>
                  <a:schemeClr val="accent4"/>
                </a:solidFill>
              </a:rPr>
              <a:t>store</a:t>
            </a:r>
            <a:r>
              <a:rPr lang="en-US" sz="1500" b="1" dirty="0"/>
              <a:t> </a:t>
            </a:r>
            <a:r>
              <a:rPr lang="en-US" sz="1500" dirty="0"/>
              <a:t>indicators. </a:t>
            </a:r>
          </a:p>
          <a:p>
            <a:pPr marL="285750" indent="-285750">
              <a:buFont typeface="Arial" panose="020B0604020202020204" pitchFamily="34" charset="0"/>
              <a:buChar char="•"/>
            </a:pPr>
            <a:endParaRPr lang="en-US" sz="1500" dirty="0"/>
          </a:p>
        </p:txBody>
      </p:sp>
      <p:sp>
        <p:nvSpPr>
          <p:cNvPr id="36" name="Slide Number Placeholder 35">
            <a:extLst>
              <a:ext uri="{FF2B5EF4-FFF2-40B4-BE49-F238E27FC236}">
                <a16:creationId xmlns:a16="http://schemas.microsoft.com/office/drawing/2014/main" id="{B72D3914-5D95-76EC-449D-4239C09E6F2D}"/>
              </a:ext>
            </a:extLst>
          </p:cNvPr>
          <p:cNvSpPr>
            <a:spLocks noGrp="1"/>
          </p:cNvSpPr>
          <p:nvPr>
            <p:ph type="sldNum" sz="quarter" idx="4"/>
          </p:nvPr>
        </p:nvSpPr>
        <p:spPr/>
        <p:txBody>
          <a:bodyPr/>
          <a:lstStyle/>
          <a:p>
            <a:fld id="{9860EDB8-5305-433F-BE41-D7A86D811DB3}" type="slidenum">
              <a:rPr lang="en-US" smtClean="0"/>
              <a:pPr/>
              <a:t>6</a:t>
            </a:fld>
            <a:endParaRPr lang="en-US" dirty="0"/>
          </a:p>
        </p:txBody>
      </p:sp>
    </p:spTree>
    <p:extLst>
      <p:ext uri="{BB962C8B-B14F-4D97-AF65-F5344CB8AC3E}">
        <p14:creationId xmlns:p14="http://schemas.microsoft.com/office/powerpoint/2010/main" val="2770847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D825-A6ED-F0F4-25B1-62E80CF3E685}"/>
              </a:ext>
            </a:extLst>
          </p:cNvPr>
          <p:cNvSpPr>
            <a:spLocks noGrp="1"/>
          </p:cNvSpPr>
          <p:nvPr>
            <p:ph type="title"/>
          </p:nvPr>
        </p:nvSpPr>
        <p:spPr/>
        <p:txBody>
          <a:bodyPr/>
          <a:lstStyle/>
          <a:p>
            <a:r>
              <a:rPr lang="it-IT" b="1" dirty="0">
                <a:solidFill>
                  <a:srgbClr val="C00000"/>
                </a:solidFill>
              </a:rPr>
              <a:t>4. </a:t>
            </a:r>
            <a:r>
              <a:rPr lang="en-US" dirty="0"/>
              <a:t>Introduction to the Indicators</a:t>
            </a:r>
          </a:p>
        </p:txBody>
      </p:sp>
      <p:sp>
        <p:nvSpPr>
          <p:cNvPr id="4" name="TextBox 3">
            <a:extLst>
              <a:ext uri="{FF2B5EF4-FFF2-40B4-BE49-F238E27FC236}">
                <a16:creationId xmlns:a16="http://schemas.microsoft.com/office/drawing/2014/main" id="{4762D4E6-15DF-9B23-0A19-749C7C322E64}"/>
              </a:ext>
            </a:extLst>
          </p:cNvPr>
          <p:cNvSpPr txBox="1"/>
          <p:nvPr/>
        </p:nvSpPr>
        <p:spPr>
          <a:xfrm>
            <a:off x="558723" y="2564429"/>
            <a:ext cx="7372198" cy="1184940"/>
          </a:xfrm>
          <a:prstGeom prst="rect">
            <a:avLst/>
          </a:prstGeom>
          <a:noFill/>
        </p:spPr>
        <p:txBody>
          <a:bodyPr wrap="square">
            <a:spAutoFit/>
          </a:bodyPr>
          <a:lstStyle/>
          <a:p>
            <a:pPr marL="0" indent="0">
              <a:spcAft>
                <a:spcPts val="600"/>
              </a:spcAft>
              <a:buNone/>
              <a:defRPr/>
            </a:pPr>
            <a:r>
              <a:rPr lang="en-US" sz="1400" b="1" dirty="0">
                <a:solidFill>
                  <a:schemeClr val="tx1"/>
                </a:solidFill>
                <a:latin typeface="Segoe UI" panose="020B0502040204020203" pitchFamily="34" charset="0"/>
                <a:cs typeface="Segoe UI" panose="020B0502040204020203" pitchFamily="34" charset="0"/>
              </a:rPr>
              <a:t>All </a:t>
            </a:r>
            <a:r>
              <a:rPr lang="en-US" sz="1400" b="1" dirty="0">
                <a:latin typeface="Segoe UI" panose="020B0502040204020203" pitchFamily="34" charset="0"/>
                <a:cs typeface="Segoe UI" panose="020B0502040204020203" pitchFamily="34" charset="0"/>
              </a:rPr>
              <a:t>i</a:t>
            </a:r>
            <a:r>
              <a:rPr lang="en-US" sz="1400" b="1" dirty="0">
                <a:solidFill>
                  <a:schemeClr val="tx1"/>
                </a:solidFill>
                <a:latin typeface="Segoe UI" panose="020B0502040204020203" pitchFamily="34" charset="0"/>
                <a:cs typeface="Segoe UI" panose="020B0502040204020203" pitchFamily="34" charset="0"/>
              </a:rPr>
              <a:t>ndicators </a:t>
            </a:r>
            <a:r>
              <a:rPr lang="en-US" sz="1400" dirty="0">
                <a:solidFill>
                  <a:schemeClr val="tx1"/>
                </a:solidFill>
                <a:latin typeface="Segoe UI" panose="020B0502040204020203" pitchFamily="34" charset="0"/>
                <a:cs typeface="Segoe UI" panose="020B0502040204020203" pitchFamily="34" charset="0"/>
              </a:rPr>
              <a:t>in the 3 dashboards </a:t>
            </a:r>
            <a:r>
              <a:rPr lang="en-US" sz="1400" i="1" dirty="0">
                <a:solidFill>
                  <a:schemeClr val="tx1"/>
                </a:solidFill>
                <a:latin typeface="Segoe UI" panose="020B0502040204020203" pitchFamily="34" charset="0"/>
                <a:cs typeface="Segoe UI" panose="020B0502040204020203" pitchFamily="34" charset="0"/>
              </a:rPr>
              <a:t>(except 3 indicators for the analysis of the customers)</a:t>
            </a:r>
          </a:p>
          <a:p>
            <a:pPr marL="0" indent="0">
              <a:spcAft>
                <a:spcPts val="600"/>
              </a:spcAft>
              <a:buNone/>
              <a:defRPr/>
            </a:pPr>
            <a:r>
              <a:rPr lang="en-US" sz="1400" dirty="0"/>
              <a:t>are colored by: </a:t>
            </a:r>
            <a:r>
              <a:rPr lang="en-US" sz="1400" b="1" dirty="0"/>
              <a:t>Total margin sum</a:t>
            </a:r>
            <a:endParaRPr lang="en-US" sz="1400" i="1" dirty="0">
              <a:solidFill>
                <a:schemeClr val="tx1"/>
              </a:solidFill>
              <a:latin typeface="Segoe UI" panose="020B0502040204020203" pitchFamily="34" charset="0"/>
              <a:cs typeface="Segoe UI" panose="020B0502040204020203" pitchFamily="34" charset="0"/>
            </a:endParaRPr>
          </a:p>
          <a:p>
            <a:pPr marL="285750" indent="-285750">
              <a:spcAft>
                <a:spcPts val="600"/>
              </a:spcAft>
              <a:buFont typeface="Arial" panose="020B0604020202020204" pitchFamily="34" charset="0"/>
              <a:buChar char="•"/>
              <a:defRPr/>
            </a:pPr>
            <a:r>
              <a:rPr lang="en-US" sz="1400" b="1" dirty="0">
                <a:solidFill>
                  <a:schemeClr val="accent5"/>
                </a:solidFill>
                <a:latin typeface="Segoe UI" panose="020B0502040204020203" pitchFamily="34" charset="0"/>
                <a:cs typeface="Segoe UI" panose="020B0502040204020203" pitchFamily="34" charset="0"/>
              </a:rPr>
              <a:t>Blue</a:t>
            </a:r>
            <a:r>
              <a:rPr lang="en-US" sz="1400" dirty="0">
                <a:latin typeface="Segoe UI" panose="020B0502040204020203" pitchFamily="34" charset="0"/>
                <a:cs typeface="Segoe UI" panose="020B0502040204020203" pitchFamily="34" charset="0"/>
              </a:rPr>
              <a:t> </a:t>
            </a:r>
            <a:r>
              <a:rPr lang="en-US" sz="1400" dirty="0">
                <a:solidFill>
                  <a:schemeClr val="tx1"/>
                </a:solidFill>
                <a:latin typeface="Segoe UI" panose="020B0502040204020203" pitchFamily="34" charset="0"/>
                <a:cs typeface="Segoe UI" panose="020B0502040204020203" pitchFamily="34" charset="0"/>
              </a:rPr>
              <a:t>for </a:t>
            </a:r>
            <a:r>
              <a:rPr lang="en-US" sz="1400" b="1" dirty="0">
                <a:solidFill>
                  <a:schemeClr val="tx1"/>
                </a:solidFill>
                <a:latin typeface="Segoe UI" panose="020B0502040204020203" pitchFamily="34" charset="0"/>
                <a:cs typeface="Segoe UI" panose="020B0502040204020203" pitchFamily="34" charset="0"/>
              </a:rPr>
              <a:t>Positive</a:t>
            </a:r>
            <a:r>
              <a:rPr lang="en-US" sz="1400" dirty="0">
                <a:solidFill>
                  <a:schemeClr val="tx1"/>
                </a:solidFill>
                <a:latin typeface="Segoe UI" panose="020B0502040204020203" pitchFamily="34" charset="0"/>
                <a:cs typeface="Segoe UI" panose="020B0502040204020203" pitchFamily="34" charset="0"/>
              </a:rPr>
              <a:t> Total Margin</a:t>
            </a:r>
          </a:p>
          <a:p>
            <a:pPr marL="285750" indent="-285750">
              <a:spcAft>
                <a:spcPts val="600"/>
              </a:spcAft>
              <a:buFont typeface="Arial" panose="020B0604020202020204" pitchFamily="34" charset="0"/>
              <a:buChar char="•"/>
              <a:defRPr/>
            </a:pPr>
            <a:r>
              <a:rPr lang="en-US" sz="1400" b="1" dirty="0">
                <a:solidFill>
                  <a:schemeClr val="accent2">
                    <a:lumMod val="75000"/>
                  </a:schemeClr>
                </a:solidFill>
                <a:latin typeface="Segoe UI" panose="020B0502040204020203" pitchFamily="34" charset="0"/>
                <a:cs typeface="Segoe UI" panose="020B0502040204020203" pitchFamily="34" charset="0"/>
              </a:rPr>
              <a:t>Orange</a:t>
            </a:r>
            <a:r>
              <a:rPr lang="en-US" sz="1400" dirty="0">
                <a:latin typeface="Segoe UI" panose="020B0502040204020203" pitchFamily="34" charset="0"/>
                <a:cs typeface="Segoe UI" panose="020B0502040204020203" pitchFamily="34" charset="0"/>
              </a:rPr>
              <a:t> </a:t>
            </a:r>
            <a:r>
              <a:rPr lang="en-US" sz="1400" dirty="0">
                <a:solidFill>
                  <a:schemeClr val="tx1"/>
                </a:solidFill>
                <a:latin typeface="Segoe UI" panose="020B0502040204020203" pitchFamily="34" charset="0"/>
                <a:cs typeface="Segoe UI" panose="020B0502040204020203" pitchFamily="34" charset="0"/>
              </a:rPr>
              <a:t>for </a:t>
            </a:r>
            <a:r>
              <a:rPr lang="en-US" sz="1400" b="1" dirty="0">
                <a:solidFill>
                  <a:schemeClr val="tx1"/>
                </a:solidFill>
                <a:latin typeface="Segoe UI" panose="020B0502040204020203" pitchFamily="34" charset="0"/>
                <a:cs typeface="Segoe UI" panose="020B0502040204020203" pitchFamily="34" charset="0"/>
              </a:rPr>
              <a:t>Negative</a:t>
            </a:r>
            <a:r>
              <a:rPr lang="en-US" sz="1400" dirty="0">
                <a:solidFill>
                  <a:schemeClr val="tx1"/>
                </a:solidFill>
                <a:latin typeface="Segoe UI" panose="020B0502040204020203" pitchFamily="34" charset="0"/>
                <a:cs typeface="Segoe UI" panose="020B0502040204020203" pitchFamily="34" charset="0"/>
              </a:rPr>
              <a:t> Total Margin</a:t>
            </a:r>
          </a:p>
        </p:txBody>
      </p:sp>
      <p:pic>
        <p:nvPicPr>
          <p:cNvPr id="5" name="Picture 4">
            <a:extLst>
              <a:ext uri="{FF2B5EF4-FFF2-40B4-BE49-F238E27FC236}">
                <a16:creationId xmlns:a16="http://schemas.microsoft.com/office/drawing/2014/main" id="{6C04CBE7-D069-C758-4DCB-CA14896B12A9}"/>
              </a:ext>
            </a:extLst>
          </p:cNvPr>
          <p:cNvPicPr>
            <a:picLocks noChangeAspect="1"/>
          </p:cNvPicPr>
          <p:nvPr/>
        </p:nvPicPr>
        <p:blipFill>
          <a:blip r:embed="rId2"/>
          <a:srcRect b="30182"/>
          <a:stretch/>
        </p:blipFill>
        <p:spPr>
          <a:xfrm>
            <a:off x="4577102" y="3117100"/>
            <a:ext cx="1752060" cy="540219"/>
          </a:xfrm>
          <a:prstGeom prst="rect">
            <a:avLst/>
          </a:prstGeom>
        </p:spPr>
      </p:pic>
      <p:sp>
        <p:nvSpPr>
          <p:cNvPr id="6" name="TextBox 5">
            <a:extLst>
              <a:ext uri="{FF2B5EF4-FFF2-40B4-BE49-F238E27FC236}">
                <a16:creationId xmlns:a16="http://schemas.microsoft.com/office/drawing/2014/main" id="{AFD45C0A-6376-E21B-C6FB-3C842606B71F}"/>
              </a:ext>
            </a:extLst>
          </p:cNvPr>
          <p:cNvSpPr txBox="1"/>
          <p:nvPr/>
        </p:nvSpPr>
        <p:spPr>
          <a:xfrm>
            <a:off x="8962199" y="2564429"/>
            <a:ext cx="2770683" cy="1600438"/>
          </a:xfrm>
          <a:prstGeom prst="rect">
            <a:avLst/>
          </a:prstGeom>
          <a:noFill/>
        </p:spPr>
        <p:txBody>
          <a:bodyPr wrap="square">
            <a:spAutoFit/>
          </a:bodyPr>
          <a:lstStyle/>
          <a:p>
            <a:r>
              <a:rPr lang="en-US" sz="1600" b="1" dirty="0"/>
              <a:t>Why?</a:t>
            </a:r>
          </a:p>
          <a:p>
            <a:endParaRPr lang="en-US" sz="1600" dirty="0"/>
          </a:p>
          <a:p>
            <a:r>
              <a:rPr lang="en-US" sz="1600" dirty="0"/>
              <a:t>to visually highlight losses and gains </a:t>
            </a:r>
          </a:p>
          <a:p>
            <a:endParaRPr lang="en-US" sz="1600" b="1" dirty="0"/>
          </a:p>
          <a:p>
            <a:endParaRPr lang="en-US" sz="1800" b="1" dirty="0"/>
          </a:p>
        </p:txBody>
      </p:sp>
      <p:cxnSp>
        <p:nvCxnSpPr>
          <p:cNvPr id="7" name="Straight Arrow Connector 6">
            <a:extLst>
              <a:ext uri="{FF2B5EF4-FFF2-40B4-BE49-F238E27FC236}">
                <a16:creationId xmlns:a16="http://schemas.microsoft.com/office/drawing/2014/main" id="{E131C046-FCB1-3292-AC05-BF9ED578494C}"/>
              </a:ext>
            </a:extLst>
          </p:cNvPr>
          <p:cNvCxnSpPr/>
          <p:nvPr/>
        </p:nvCxnSpPr>
        <p:spPr>
          <a:xfrm>
            <a:off x="7192652" y="3289957"/>
            <a:ext cx="163083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DACDEF6D-CE0F-AB5E-0368-FC2FB7021B94}"/>
              </a:ext>
            </a:extLst>
          </p:cNvPr>
          <p:cNvSpPr txBox="1"/>
          <p:nvPr/>
        </p:nvSpPr>
        <p:spPr>
          <a:xfrm>
            <a:off x="521207" y="4717538"/>
            <a:ext cx="9249543" cy="1569660"/>
          </a:xfrm>
          <a:prstGeom prst="rect">
            <a:avLst/>
          </a:prstGeom>
          <a:noFill/>
        </p:spPr>
        <p:txBody>
          <a:bodyPr wrap="square">
            <a:spAutoFit/>
          </a:bodyPr>
          <a:lstStyle/>
          <a:p>
            <a:r>
              <a:rPr lang="en-US" sz="1600" dirty="0"/>
              <a:t>Next the explanation of the indicators:</a:t>
            </a:r>
          </a:p>
          <a:p>
            <a:pPr marL="342900" indent="-342900">
              <a:buAutoNum type="arabicPeriod"/>
            </a:pPr>
            <a:r>
              <a:rPr lang="en-US" sz="1600" dirty="0"/>
              <a:t>Key indicators</a:t>
            </a:r>
          </a:p>
          <a:p>
            <a:pPr marL="342900" indent="-342900">
              <a:buAutoNum type="arabicPeriod"/>
            </a:pPr>
            <a:r>
              <a:rPr lang="en-US" sz="1600" dirty="0"/>
              <a:t>Product and Store indicators</a:t>
            </a:r>
          </a:p>
          <a:p>
            <a:pPr marL="342900" indent="-342900">
              <a:buAutoNum type="arabicPeriod"/>
            </a:pPr>
            <a:r>
              <a:rPr lang="en-US" sz="1600" dirty="0"/>
              <a:t>Customer Indicators</a:t>
            </a:r>
          </a:p>
          <a:p>
            <a:endParaRPr lang="en-US" sz="1600" dirty="0"/>
          </a:p>
          <a:p>
            <a:r>
              <a:rPr lang="en-US" sz="1600" dirty="0"/>
              <a:t>Followed by the analysis</a:t>
            </a:r>
          </a:p>
        </p:txBody>
      </p:sp>
      <p:sp>
        <p:nvSpPr>
          <p:cNvPr id="11" name="Slide Number Placeholder 10">
            <a:extLst>
              <a:ext uri="{FF2B5EF4-FFF2-40B4-BE49-F238E27FC236}">
                <a16:creationId xmlns:a16="http://schemas.microsoft.com/office/drawing/2014/main" id="{0240921A-EE37-AA24-7C7C-0B0C1A55F6D4}"/>
              </a:ext>
            </a:extLst>
          </p:cNvPr>
          <p:cNvSpPr>
            <a:spLocks noGrp="1"/>
          </p:cNvSpPr>
          <p:nvPr>
            <p:ph type="sldNum" sz="quarter" idx="4"/>
          </p:nvPr>
        </p:nvSpPr>
        <p:spPr/>
        <p:txBody>
          <a:bodyPr/>
          <a:lstStyle/>
          <a:p>
            <a:fld id="{9860EDB8-5305-433F-BE41-D7A86D811DB3}" type="slidenum">
              <a:rPr lang="en-US" smtClean="0"/>
              <a:pPr/>
              <a:t>7</a:t>
            </a:fld>
            <a:endParaRPr lang="en-US" dirty="0"/>
          </a:p>
        </p:txBody>
      </p:sp>
    </p:spTree>
    <p:extLst>
      <p:ext uri="{BB962C8B-B14F-4D97-AF65-F5344CB8AC3E}">
        <p14:creationId xmlns:p14="http://schemas.microsoft.com/office/powerpoint/2010/main" val="130703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537F-13E1-B61E-93F4-611F072C86C6}"/>
              </a:ext>
            </a:extLst>
          </p:cNvPr>
          <p:cNvSpPr>
            <a:spLocks noGrp="1"/>
          </p:cNvSpPr>
          <p:nvPr>
            <p:ph type="title"/>
          </p:nvPr>
        </p:nvSpPr>
        <p:spPr/>
        <p:txBody>
          <a:bodyPr/>
          <a:lstStyle/>
          <a:p>
            <a:r>
              <a:rPr lang="it-IT" b="1" dirty="0">
                <a:solidFill>
                  <a:srgbClr val="C00000"/>
                </a:solidFill>
              </a:rPr>
              <a:t>4.1. </a:t>
            </a:r>
            <a:r>
              <a:rPr lang="it-IT" dirty="0"/>
              <a:t>Key </a:t>
            </a:r>
            <a:r>
              <a:rPr lang="it-IT" dirty="0" err="1"/>
              <a:t>Indicators</a:t>
            </a:r>
            <a:endParaRPr lang="en-US" dirty="0"/>
          </a:p>
        </p:txBody>
      </p:sp>
      <p:pic>
        <p:nvPicPr>
          <p:cNvPr id="12" name="Picture 11">
            <a:extLst>
              <a:ext uri="{FF2B5EF4-FFF2-40B4-BE49-F238E27FC236}">
                <a16:creationId xmlns:a16="http://schemas.microsoft.com/office/drawing/2014/main" id="{5E54D5B9-2643-540C-8610-3B128239B636}"/>
              </a:ext>
            </a:extLst>
          </p:cNvPr>
          <p:cNvPicPr>
            <a:picLocks noChangeAspect="1"/>
          </p:cNvPicPr>
          <p:nvPr/>
        </p:nvPicPr>
        <p:blipFill>
          <a:blip r:embed="rId3"/>
          <a:stretch>
            <a:fillRect/>
          </a:stretch>
        </p:blipFill>
        <p:spPr>
          <a:xfrm>
            <a:off x="521206" y="2548588"/>
            <a:ext cx="1191549" cy="3384910"/>
          </a:xfrm>
          <a:prstGeom prst="rect">
            <a:avLst/>
          </a:prstGeom>
        </p:spPr>
      </p:pic>
      <p:sp>
        <p:nvSpPr>
          <p:cNvPr id="18" name="TextBox 17">
            <a:extLst>
              <a:ext uri="{FF2B5EF4-FFF2-40B4-BE49-F238E27FC236}">
                <a16:creationId xmlns:a16="http://schemas.microsoft.com/office/drawing/2014/main" id="{CDA892DA-6545-C4DD-92B9-1045F714ACE7}"/>
              </a:ext>
            </a:extLst>
          </p:cNvPr>
          <p:cNvSpPr txBox="1"/>
          <p:nvPr/>
        </p:nvSpPr>
        <p:spPr>
          <a:xfrm>
            <a:off x="7777566" y="1763783"/>
            <a:ext cx="1152221" cy="307777"/>
          </a:xfrm>
          <a:prstGeom prst="rect">
            <a:avLst/>
          </a:prstGeom>
          <a:noFill/>
        </p:spPr>
        <p:txBody>
          <a:bodyPr wrap="square">
            <a:spAutoFit/>
          </a:bodyPr>
          <a:lstStyle/>
          <a:p>
            <a:r>
              <a:rPr lang="en-US" sz="1400" dirty="0"/>
              <a:t>Quantity</a:t>
            </a:r>
          </a:p>
        </p:txBody>
      </p:sp>
      <p:sp>
        <p:nvSpPr>
          <p:cNvPr id="22" name="TextBox 21">
            <a:extLst>
              <a:ext uri="{FF2B5EF4-FFF2-40B4-BE49-F238E27FC236}">
                <a16:creationId xmlns:a16="http://schemas.microsoft.com/office/drawing/2014/main" id="{9658C2B9-7CA4-1F18-66A9-14AC1C58E294}"/>
              </a:ext>
            </a:extLst>
          </p:cNvPr>
          <p:cNvSpPr txBox="1"/>
          <p:nvPr/>
        </p:nvSpPr>
        <p:spPr>
          <a:xfrm>
            <a:off x="8077896" y="5948606"/>
            <a:ext cx="1152221" cy="307777"/>
          </a:xfrm>
          <a:prstGeom prst="rect">
            <a:avLst/>
          </a:prstGeom>
          <a:noFill/>
        </p:spPr>
        <p:txBody>
          <a:bodyPr wrap="square">
            <a:spAutoFit/>
          </a:bodyPr>
          <a:lstStyle/>
          <a:p>
            <a:r>
              <a:rPr lang="en-US" sz="1400" dirty="0"/>
              <a:t>Margin</a:t>
            </a:r>
          </a:p>
        </p:txBody>
      </p:sp>
      <p:sp>
        <p:nvSpPr>
          <p:cNvPr id="24" name="TextBox 23">
            <a:extLst>
              <a:ext uri="{FF2B5EF4-FFF2-40B4-BE49-F238E27FC236}">
                <a16:creationId xmlns:a16="http://schemas.microsoft.com/office/drawing/2014/main" id="{94475111-91F5-6E6A-53F1-443766C8F635}"/>
              </a:ext>
            </a:extLst>
          </p:cNvPr>
          <p:cNvSpPr txBox="1"/>
          <p:nvPr/>
        </p:nvSpPr>
        <p:spPr>
          <a:xfrm>
            <a:off x="521713" y="1240316"/>
            <a:ext cx="10809306" cy="954107"/>
          </a:xfrm>
          <a:prstGeom prst="rect">
            <a:avLst/>
          </a:prstGeom>
          <a:noFill/>
        </p:spPr>
        <p:txBody>
          <a:bodyPr wrap="square">
            <a:spAutoFit/>
          </a:bodyPr>
          <a:lstStyle/>
          <a:p>
            <a:r>
              <a:rPr lang="en-US" sz="1400" dirty="0"/>
              <a:t>These 2 indicators are present on all </a:t>
            </a:r>
            <a:r>
              <a:rPr lang="en-US" sz="1400" b="1" dirty="0"/>
              <a:t>3</a:t>
            </a:r>
            <a:r>
              <a:rPr lang="en-US" sz="1400" dirty="0"/>
              <a:t> dashboards and allow for analyzing the margin and quantity sold across different </a:t>
            </a:r>
            <a:r>
              <a:rPr lang="en-US" sz="1400" b="1" dirty="0"/>
              <a:t>products</a:t>
            </a:r>
            <a:r>
              <a:rPr lang="en-US" sz="1400" dirty="0"/>
              <a:t>, </a:t>
            </a:r>
            <a:r>
              <a:rPr lang="en-US" sz="1400" b="1" dirty="0"/>
              <a:t>stores</a:t>
            </a:r>
            <a:r>
              <a:rPr lang="en-US" sz="1400" dirty="0"/>
              <a:t>, </a:t>
            </a:r>
            <a:r>
              <a:rPr lang="en-US" sz="1400" b="1" dirty="0"/>
              <a:t>age groups ,civilities</a:t>
            </a:r>
            <a:r>
              <a:rPr lang="en-US" sz="1400" dirty="0"/>
              <a:t> and </a:t>
            </a:r>
            <a:r>
              <a:rPr lang="en-US" sz="1400" b="1" dirty="0"/>
              <a:t>cashiers</a:t>
            </a:r>
            <a:r>
              <a:rPr lang="en-US" sz="1400" dirty="0"/>
              <a:t>.</a:t>
            </a:r>
          </a:p>
          <a:p>
            <a:endParaRPr lang="en-US" sz="1400" dirty="0"/>
          </a:p>
          <a:p>
            <a:endParaRPr lang="en-US" sz="1400" dirty="0"/>
          </a:p>
        </p:txBody>
      </p:sp>
      <p:sp>
        <p:nvSpPr>
          <p:cNvPr id="30" name="TextBox 29">
            <a:extLst>
              <a:ext uri="{FF2B5EF4-FFF2-40B4-BE49-F238E27FC236}">
                <a16:creationId xmlns:a16="http://schemas.microsoft.com/office/drawing/2014/main" id="{BD184240-B8C0-79E3-5ECE-129EC5893398}"/>
              </a:ext>
            </a:extLst>
          </p:cNvPr>
          <p:cNvSpPr txBox="1"/>
          <p:nvPr/>
        </p:nvSpPr>
        <p:spPr>
          <a:xfrm>
            <a:off x="379804" y="1913312"/>
            <a:ext cx="5276279" cy="276999"/>
          </a:xfrm>
          <a:prstGeom prst="rect">
            <a:avLst/>
          </a:prstGeom>
          <a:noFill/>
        </p:spPr>
        <p:txBody>
          <a:bodyPr wrap="square">
            <a:spAutoFit/>
          </a:bodyPr>
          <a:lstStyle/>
          <a:p>
            <a:r>
              <a:rPr lang="en-US" sz="1200" i="1" dirty="0"/>
              <a:t>Filters that allow analyzing data by months of the year or by hours of the day</a:t>
            </a:r>
          </a:p>
        </p:txBody>
      </p:sp>
      <p:cxnSp>
        <p:nvCxnSpPr>
          <p:cNvPr id="33" name="Straight Arrow Connector 32">
            <a:extLst>
              <a:ext uri="{FF2B5EF4-FFF2-40B4-BE49-F238E27FC236}">
                <a16:creationId xmlns:a16="http://schemas.microsoft.com/office/drawing/2014/main" id="{8D5E0907-F2FC-BD27-D79B-368240B0F042}"/>
              </a:ext>
            </a:extLst>
          </p:cNvPr>
          <p:cNvCxnSpPr>
            <a:cxnSpLocks/>
          </p:cNvCxnSpPr>
          <p:nvPr/>
        </p:nvCxnSpPr>
        <p:spPr>
          <a:xfrm flipV="1">
            <a:off x="772999" y="2113367"/>
            <a:ext cx="0" cy="44900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BD591859-0384-B117-7D7D-D837494D2E7D}"/>
              </a:ext>
            </a:extLst>
          </p:cNvPr>
          <p:cNvPicPr>
            <a:picLocks noChangeAspect="1"/>
          </p:cNvPicPr>
          <p:nvPr/>
        </p:nvPicPr>
        <p:blipFill>
          <a:blip r:embed="rId4"/>
          <a:stretch>
            <a:fillRect/>
          </a:stretch>
        </p:blipFill>
        <p:spPr>
          <a:xfrm>
            <a:off x="1800519" y="2267256"/>
            <a:ext cx="7223855" cy="3666242"/>
          </a:xfrm>
          <a:prstGeom prst="rect">
            <a:avLst/>
          </a:prstGeom>
        </p:spPr>
      </p:pic>
      <p:sp>
        <p:nvSpPr>
          <p:cNvPr id="8" name="TextBox 7">
            <a:extLst>
              <a:ext uri="{FF2B5EF4-FFF2-40B4-BE49-F238E27FC236}">
                <a16:creationId xmlns:a16="http://schemas.microsoft.com/office/drawing/2014/main" id="{6D9EBE06-9381-CC65-8839-A50759736B37}"/>
              </a:ext>
            </a:extLst>
          </p:cNvPr>
          <p:cNvSpPr txBox="1"/>
          <p:nvPr/>
        </p:nvSpPr>
        <p:spPr>
          <a:xfrm>
            <a:off x="9112138" y="3288770"/>
            <a:ext cx="2799561" cy="1846659"/>
          </a:xfrm>
          <a:prstGeom prst="rect">
            <a:avLst/>
          </a:prstGeom>
          <a:noFill/>
        </p:spPr>
        <p:txBody>
          <a:bodyPr wrap="square">
            <a:spAutoFit/>
          </a:bodyPr>
          <a:lstStyle/>
          <a:p>
            <a:r>
              <a:rPr lang="en-US" sz="1600" b="1" dirty="0"/>
              <a:t>Why</a:t>
            </a:r>
            <a:r>
              <a:rPr lang="en-US" sz="1600" dirty="0"/>
              <a:t> use the dual axis?</a:t>
            </a:r>
          </a:p>
          <a:p>
            <a:endParaRPr lang="en-US" sz="1400" dirty="0"/>
          </a:p>
          <a:p>
            <a:pPr algn="just"/>
            <a:r>
              <a:rPr lang="en-US" sz="1400" dirty="0"/>
              <a:t>In some cases, the total margin is zero. It helps determine whether this is due to a lack of sales during that period or because there was no profit despite the sales</a:t>
            </a:r>
          </a:p>
        </p:txBody>
      </p:sp>
      <p:cxnSp>
        <p:nvCxnSpPr>
          <p:cNvPr id="7" name="Straight Arrow Connector 6">
            <a:extLst>
              <a:ext uri="{FF2B5EF4-FFF2-40B4-BE49-F238E27FC236}">
                <a16:creationId xmlns:a16="http://schemas.microsoft.com/office/drawing/2014/main" id="{A00AC69F-0A3C-E5A9-C250-73F328ABFD51}"/>
              </a:ext>
            </a:extLst>
          </p:cNvPr>
          <p:cNvCxnSpPr/>
          <p:nvPr/>
        </p:nvCxnSpPr>
        <p:spPr>
          <a:xfrm>
            <a:off x="7777566" y="4986780"/>
            <a:ext cx="576110" cy="9467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828BAF61-0E8B-D3D9-AADF-4193859F9BD5}"/>
              </a:ext>
            </a:extLst>
          </p:cNvPr>
          <p:cNvCxnSpPr>
            <a:cxnSpLocks/>
          </p:cNvCxnSpPr>
          <p:nvPr/>
        </p:nvCxnSpPr>
        <p:spPr>
          <a:xfrm flipV="1">
            <a:off x="7777566" y="2113367"/>
            <a:ext cx="433180" cy="21841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4" name="Picture 13">
            <a:extLst>
              <a:ext uri="{FF2B5EF4-FFF2-40B4-BE49-F238E27FC236}">
                <a16:creationId xmlns:a16="http://schemas.microsoft.com/office/drawing/2014/main" id="{07DBDFE9-D4F3-EE30-B5F9-2511C5A9C480}"/>
              </a:ext>
            </a:extLst>
          </p:cNvPr>
          <p:cNvPicPr>
            <a:picLocks noChangeAspect="1"/>
          </p:cNvPicPr>
          <p:nvPr/>
        </p:nvPicPr>
        <p:blipFill>
          <a:blip r:embed="rId5"/>
          <a:stretch>
            <a:fillRect/>
          </a:stretch>
        </p:blipFill>
        <p:spPr>
          <a:xfrm>
            <a:off x="2157725" y="5915199"/>
            <a:ext cx="3604081" cy="785852"/>
          </a:xfrm>
          <a:prstGeom prst="rect">
            <a:avLst/>
          </a:prstGeom>
        </p:spPr>
      </p:pic>
      <p:cxnSp>
        <p:nvCxnSpPr>
          <p:cNvPr id="17" name="Straight Arrow Connector 16">
            <a:extLst>
              <a:ext uri="{FF2B5EF4-FFF2-40B4-BE49-F238E27FC236}">
                <a16:creationId xmlns:a16="http://schemas.microsoft.com/office/drawing/2014/main" id="{0FF05D41-64A4-0482-9F3A-FB2C84E6A793}"/>
              </a:ext>
            </a:extLst>
          </p:cNvPr>
          <p:cNvCxnSpPr/>
          <p:nvPr/>
        </p:nvCxnSpPr>
        <p:spPr>
          <a:xfrm>
            <a:off x="4414435" y="5778631"/>
            <a:ext cx="0" cy="23181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Slide Number Placeholder 18">
            <a:extLst>
              <a:ext uri="{FF2B5EF4-FFF2-40B4-BE49-F238E27FC236}">
                <a16:creationId xmlns:a16="http://schemas.microsoft.com/office/drawing/2014/main" id="{DEE49BB0-6D7D-20EE-0D3C-913AE39908F8}"/>
              </a:ext>
            </a:extLst>
          </p:cNvPr>
          <p:cNvSpPr>
            <a:spLocks noGrp="1"/>
          </p:cNvSpPr>
          <p:nvPr>
            <p:ph type="sldNum" sz="quarter" idx="4"/>
          </p:nvPr>
        </p:nvSpPr>
        <p:spPr/>
        <p:txBody>
          <a:bodyPr/>
          <a:lstStyle/>
          <a:p>
            <a:fld id="{9860EDB8-5305-433F-BE41-D7A86D811DB3}" type="slidenum">
              <a:rPr lang="en-US" smtClean="0"/>
              <a:pPr/>
              <a:t>8</a:t>
            </a:fld>
            <a:endParaRPr lang="en-US" dirty="0"/>
          </a:p>
        </p:txBody>
      </p:sp>
    </p:spTree>
    <p:extLst>
      <p:ext uri="{BB962C8B-B14F-4D97-AF65-F5344CB8AC3E}">
        <p14:creationId xmlns:p14="http://schemas.microsoft.com/office/powerpoint/2010/main" val="3260952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FA1-82F5-0F8A-3FFF-9D4C1A71DD4F}"/>
              </a:ext>
            </a:extLst>
          </p:cNvPr>
          <p:cNvSpPr>
            <a:spLocks noGrp="1"/>
          </p:cNvSpPr>
          <p:nvPr>
            <p:ph type="title"/>
          </p:nvPr>
        </p:nvSpPr>
        <p:spPr/>
        <p:txBody>
          <a:bodyPr/>
          <a:lstStyle/>
          <a:p>
            <a:r>
              <a:rPr lang="it-IT" b="1" dirty="0">
                <a:solidFill>
                  <a:srgbClr val="C00000"/>
                </a:solidFill>
              </a:rPr>
              <a:t>4.2. </a:t>
            </a:r>
            <a:r>
              <a:rPr lang="it-IT" dirty="0"/>
              <a:t>Products and Stores </a:t>
            </a:r>
            <a:r>
              <a:rPr lang="it-IT" dirty="0" err="1"/>
              <a:t>Indicators</a:t>
            </a:r>
            <a:endParaRPr lang="en-US" dirty="0"/>
          </a:p>
        </p:txBody>
      </p:sp>
      <p:sp>
        <p:nvSpPr>
          <p:cNvPr id="21" name="TextBox 20">
            <a:extLst>
              <a:ext uri="{FF2B5EF4-FFF2-40B4-BE49-F238E27FC236}">
                <a16:creationId xmlns:a16="http://schemas.microsoft.com/office/drawing/2014/main" id="{83F47BCA-7E8F-FFB3-962E-E2F7A07E1830}"/>
              </a:ext>
            </a:extLst>
          </p:cNvPr>
          <p:cNvSpPr txBox="1"/>
          <p:nvPr/>
        </p:nvSpPr>
        <p:spPr>
          <a:xfrm>
            <a:off x="576347" y="1173402"/>
            <a:ext cx="4324546" cy="1415772"/>
          </a:xfrm>
          <a:prstGeom prst="rect">
            <a:avLst/>
          </a:prstGeom>
          <a:noFill/>
        </p:spPr>
        <p:txBody>
          <a:bodyPr wrap="square">
            <a:spAutoFit/>
          </a:bodyPr>
          <a:lstStyle/>
          <a:p>
            <a:pPr>
              <a:spcAft>
                <a:spcPts val="600"/>
              </a:spcAft>
              <a:defRPr/>
            </a:pPr>
            <a:r>
              <a:rPr lang="en-US" dirty="0">
                <a:cs typeface="Calibri" panose="020F0502020204030204" pitchFamily="34" charset="0"/>
              </a:rPr>
              <a:t>4 </a:t>
            </a:r>
            <a:r>
              <a:rPr lang="en-US" b="1" dirty="0">
                <a:cs typeface="Calibri" panose="020F0502020204030204" pitchFamily="34" charset="0"/>
              </a:rPr>
              <a:t>Bubble charts: </a:t>
            </a:r>
          </a:p>
          <a:p>
            <a:pPr marL="285750" indent="-285750">
              <a:spcAft>
                <a:spcPts val="600"/>
              </a:spcAft>
              <a:buFont typeface="Arial" panose="020B0604020202020204" pitchFamily="34" charset="0"/>
              <a:buChar char="•"/>
              <a:defRPr/>
            </a:pPr>
            <a:r>
              <a:rPr lang="en-US" sz="1600" i="1" dirty="0">
                <a:cs typeface="Calibri" panose="020F0502020204030204" pitchFamily="34" charset="0"/>
              </a:rPr>
              <a:t>Size:</a:t>
            </a:r>
            <a:r>
              <a:rPr lang="en-US" sz="1600" dirty="0">
                <a:cs typeface="Calibri" panose="020F0502020204030204" pitchFamily="34" charset="0"/>
              </a:rPr>
              <a:t> Sum total margin</a:t>
            </a:r>
          </a:p>
          <a:p>
            <a:pPr>
              <a:spcAft>
                <a:spcPts val="600"/>
              </a:spcAft>
              <a:defRPr/>
            </a:pPr>
            <a:r>
              <a:rPr lang="en-US" sz="1400" dirty="0"/>
              <a:t>Used to analyze the </a:t>
            </a:r>
            <a:r>
              <a:rPr lang="en-US" sz="1400" b="1" dirty="0"/>
              <a:t>products</a:t>
            </a:r>
            <a:r>
              <a:rPr lang="en-US" sz="1400" dirty="0"/>
              <a:t> and </a:t>
            </a:r>
            <a:r>
              <a:rPr lang="en-US" sz="1400" b="1" dirty="0"/>
              <a:t>stores</a:t>
            </a:r>
            <a:r>
              <a:rPr lang="en-US" sz="1400" dirty="0"/>
              <a:t> that generated the highest positive margins and the lowest negative margins</a:t>
            </a:r>
            <a:endParaRPr lang="en-US" sz="1400" dirty="0">
              <a:cs typeface="Calibri" panose="020F0502020204030204" pitchFamily="34" charset="0"/>
            </a:endParaRPr>
          </a:p>
        </p:txBody>
      </p:sp>
      <p:sp>
        <p:nvSpPr>
          <p:cNvPr id="26" name="TextBox 25">
            <a:extLst>
              <a:ext uri="{FF2B5EF4-FFF2-40B4-BE49-F238E27FC236}">
                <a16:creationId xmlns:a16="http://schemas.microsoft.com/office/drawing/2014/main" id="{2CBF3A3F-CC55-EB5F-7817-DB373DA5AF65}"/>
              </a:ext>
            </a:extLst>
          </p:cNvPr>
          <p:cNvSpPr txBox="1"/>
          <p:nvPr/>
        </p:nvSpPr>
        <p:spPr>
          <a:xfrm>
            <a:off x="6290685" y="1246881"/>
            <a:ext cx="5078503" cy="1231106"/>
          </a:xfrm>
          <a:prstGeom prst="rect">
            <a:avLst/>
          </a:prstGeom>
          <a:noFill/>
        </p:spPr>
        <p:txBody>
          <a:bodyPr wrap="square">
            <a:spAutoFit/>
          </a:bodyPr>
          <a:lstStyle/>
          <a:p>
            <a:pPr algn="just">
              <a:spcAft>
                <a:spcPts val="600"/>
              </a:spcAft>
              <a:defRPr/>
            </a:pPr>
            <a:r>
              <a:rPr lang="en-US" dirty="0">
                <a:cs typeface="Calibri" panose="020F0502020204030204" pitchFamily="34" charset="0"/>
              </a:rPr>
              <a:t>1 </a:t>
            </a:r>
            <a:r>
              <a:rPr lang="en-US" b="1" dirty="0" err="1">
                <a:cs typeface="Calibri" panose="020F0502020204030204" pitchFamily="34" charset="0"/>
              </a:rPr>
              <a:t>Treemap</a:t>
            </a:r>
            <a:r>
              <a:rPr lang="en-US" b="1" dirty="0">
                <a:cs typeface="Calibri" panose="020F0502020204030204" pitchFamily="34" charset="0"/>
              </a:rPr>
              <a:t>: </a:t>
            </a:r>
          </a:p>
          <a:p>
            <a:pPr marL="285750" indent="-285750" algn="just">
              <a:spcAft>
                <a:spcPts val="600"/>
              </a:spcAft>
              <a:buFont typeface="Arial" panose="020B0604020202020204" pitchFamily="34" charset="0"/>
              <a:buChar char="•"/>
              <a:defRPr/>
            </a:pPr>
            <a:r>
              <a:rPr lang="en-US" sz="1600" i="1" dirty="0">
                <a:cs typeface="Calibri" panose="020F0502020204030204" pitchFamily="34" charset="0"/>
              </a:rPr>
              <a:t>Size: </a:t>
            </a:r>
            <a:r>
              <a:rPr lang="en-US" sz="1600" dirty="0">
                <a:cs typeface="Calibri" panose="020F0502020204030204" pitchFamily="34" charset="0"/>
              </a:rPr>
              <a:t>Count Distinct Customer Number</a:t>
            </a:r>
          </a:p>
          <a:p>
            <a:pPr algn="just">
              <a:spcAft>
                <a:spcPts val="600"/>
              </a:spcAft>
              <a:defRPr/>
            </a:pPr>
            <a:r>
              <a:rPr lang="en-US" sz="1400" dirty="0"/>
              <a:t>Used to analyze the products purchased by the highest number of distinct customers, </a:t>
            </a:r>
            <a:r>
              <a:rPr lang="en-US" sz="1400" b="1" i="1" dirty="0"/>
              <a:t>“Popular products”. </a:t>
            </a:r>
          </a:p>
        </p:txBody>
      </p:sp>
      <p:pic>
        <p:nvPicPr>
          <p:cNvPr id="3" name="Picture 2">
            <a:extLst>
              <a:ext uri="{FF2B5EF4-FFF2-40B4-BE49-F238E27FC236}">
                <a16:creationId xmlns:a16="http://schemas.microsoft.com/office/drawing/2014/main" id="{F5B1EE51-A913-D1FF-500E-5A9753244D66}"/>
              </a:ext>
            </a:extLst>
          </p:cNvPr>
          <p:cNvPicPr>
            <a:picLocks noChangeAspect="1"/>
          </p:cNvPicPr>
          <p:nvPr/>
        </p:nvPicPr>
        <p:blipFill>
          <a:blip r:embed="rId2"/>
          <a:stretch>
            <a:fillRect/>
          </a:stretch>
        </p:blipFill>
        <p:spPr>
          <a:xfrm>
            <a:off x="576347" y="2891482"/>
            <a:ext cx="1654508" cy="1742782"/>
          </a:xfrm>
          <a:prstGeom prst="rect">
            <a:avLst/>
          </a:prstGeom>
        </p:spPr>
      </p:pic>
      <p:pic>
        <p:nvPicPr>
          <p:cNvPr id="5" name="Picture 4">
            <a:extLst>
              <a:ext uri="{FF2B5EF4-FFF2-40B4-BE49-F238E27FC236}">
                <a16:creationId xmlns:a16="http://schemas.microsoft.com/office/drawing/2014/main" id="{83E8405F-C379-1B87-C030-554DEF7BC925}"/>
              </a:ext>
            </a:extLst>
          </p:cNvPr>
          <p:cNvPicPr>
            <a:picLocks noChangeAspect="1"/>
          </p:cNvPicPr>
          <p:nvPr/>
        </p:nvPicPr>
        <p:blipFill>
          <a:blip r:embed="rId3"/>
          <a:stretch>
            <a:fillRect/>
          </a:stretch>
        </p:blipFill>
        <p:spPr>
          <a:xfrm>
            <a:off x="2249248" y="2891482"/>
            <a:ext cx="1814519" cy="2104724"/>
          </a:xfrm>
          <a:prstGeom prst="rect">
            <a:avLst/>
          </a:prstGeom>
        </p:spPr>
      </p:pic>
      <p:pic>
        <p:nvPicPr>
          <p:cNvPr id="6" name="Picture 5">
            <a:extLst>
              <a:ext uri="{FF2B5EF4-FFF2-40B4-BE49-F238E27FC236}">
                <a16:creationId xmlns:a16="http://schemas.microsoft.com/office/drawing/2014/main" id="{4E3B30E1-FEAC-3D94-E1B4-32116BEDC7F3}"/>
              </a:ext>
            </a:extLst>
          </p:cNvPr>
          <p:cNvPicPr>
            <a:picLocks noChangeAspect="1"/>
          </p:cNvPicPr>
          <p:nvPr/>
        </p:nvPicPr>
        <p:blipFill>
          <a:blip r:embed="rId4"/>
          <a:stretch>
            <a:fillRect/>
          </a:stretch>
        </p:blipFill>
        <p:spPr>
          <a:xfrm>
            <a:off x="521208" y="4625466"/>
            <a:ext cx="1728040" cy="1784477"/>
          </a:xfrm>
          <a:prstGeom prst="rect">
            <a:avLst/>
          </a:prstGeom>
        </p:spPr>
      </p:pic>
      <p:pic>
        <p:nvPicPr>
          <p:cNvPr id="7" name="Picture 6">
            <a:extLst>
              <a:ext uri="{FF2B5EF4-FFF2-40B4-BE49-F238E27FC236}">
                <a16:creationId xmlns:a16="http://schemas.microsoft.com/office/drawing/2014/main" id="{FB2846A0-F92C-8A4F-4C71-15D07AC0AA7B}"/>
              </a:ext>
            </a:extLst>
          </p:cNvPr>
          <p:cNvPicPr>
            <a:picLocks noChangeAspect="1"/>
          </p:cNvPicPr>
          <p:nvPr/>
        </p:nvPicPr>
        <p:blipFill>
          <a:blip r:embed="rId5"/>
          <a:stretch>
            <a:fillRect/>
          </a:stretch>
        </p:blipFill>
        <p:spPr>
          <a:xfrm>
            <a:off x="2219956" y="4438502"/>
            <a:ext cx="1915618" cy="1971441"/>
          </a:xfrm>
          <a:prstGeom prst="rect">
            <a:avLst/>
          </a:prstGeom>
        </p:spPr>
      </p:pic>
      <p:pic>
        <p:nvPicPr>
          <p:cNvPr id="8" name="Picture 7">
            <a:extLst>
              <a:ext uri="{FF2B5EF4-FFF2-40B4-BE49-F238E27FC236}">
                <a16:creationId xmlns:a16="http://schemas.microsoft.com/office/drawing/2014/main" id="{C82DED3C-92AF-3DA9-8E7F-5CFD0F04220A}"/>
              </a:ext>
            </a:extLst>
          </p:cNvPr>
          <p:cNvPicPr>
            <a:picLocks noChangeAspect="1"/>
          </p:cNvPicPr>
          <p:nvPr/>
        </p:nvPicPr>
        <p:blipFill>
          <a:blip r:embed="rId6"/>
          <a:stretch>
            <a:fillRect/>
          </a:stretch>
        </p:blipFill>
        <p:spPr>
          <a:xfrm>
            <a:off x="6328716" y="2766947"/>
            <a:ext cx="5040472" cy="2889135"/>
          </a:xfrm>
          <a:prstGeom prst="rect">
            <a:avLst/>
          </a:prstGeom>
        </p:spPr>
      </p:pic>
      <p:sp>
        <p:nvSpPr>
          <p:cNvPr id="10" name="Slide Number Placeholder 9">
            <a:extLst>
              <a:ext uri="{FF2B5EF4-FFF2-40B4-BE49-F238E27FC236}">
                <a16:creationId xmlns:a16="http://schemas.microsoft.com/office/drawing/2014/main" id="{83E8010C-6FC5-E705-C258-8C12BFA9F0D2}"/>
              </a:ext>
            </a:extLst>
          </p:cNvPr>
          <p:cNvSpPr>
            <a:spLocks noGrp="1"/>
          </p:cNvSpPr>
          <p:nvPr>
            <p:ph type="sldNum" sz="quarter" idx="4"/>
          </p:nvPr>
        </p:nvSpPr>
        <p:spPr/>
        <p:txBody>
          <a:bodyPr/>
          <a:lstStyle/>
          <a:p>
            <a:fld id="{9860EDB8-5305-433F-BE41-D7A86D811DB3}" type="slidenum">
              <a:rPr lang="en-US" smtClean="0"/>
              <a:pPr/>
              <a:t>9</a:t>
            </a:fld>
            <a:endParaRPr lang="en-US" dirty="0"/>
          </a:p>
        </p:txBody>
      </p:sp>
    </p:spTree>
    <p:extLst>
      <p:ext uri="{BB962C8B-B14F-4D97-AF65-F5344CB8AC3E}">
        <p14:creationId xmlns:p14="http://schemas.microsoft.com/office/powerpoint/2010/main" val="4205431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7F36-B2F6-ABA6-7853-4E9B328E04D2}"/>
              </a:ext>
            </a:extLst>
          </p:cNvPr>
          <p:cNvSpPr>
            <a:spLocks noGrp="1"/>
          </p:cNvSpPr>
          <p:nvPr>
            <p:ph type="title"/>
          </p:nvPr>
        </p:nvSpPr>
        <p:spPr/>
        <p:txBody>
          <a:bodyPr/>
          <a:lstStyle/>
          <a:p>
            <a:r>
              <a:rPr lang="it-IT" b="1" dirty="0">
                <a:solidFill>
                  <a:srgbClr val="C00000"/>
                </a:solidFill>
              </a:rPr>
              <a:t>4.2. </a:t>
            </a:r>
            <a:r>
              <a:rPr lang="it-IT" dirty="0"/>
              <a:t>Product </a:t>
            </a:r>
            <a:r>
              <a:rPr lang="it-IT" dirty="0" err="1"/>
              <a:t>Indicator</a:t>
            </a:r>
            <a:r>
              <a:rPr lang="it-IT" dirty="0"/>
              <a:t>: </a:t>
            </a:r>
            <a:r>
              <a:rPr lang="it-IT" dirty="0" err="1"/>
              <a:t>Treemap</a:t>
            </a:r>
            <a:endParaRPr lang="en-US" dirty="0"/>
          </a:p>
        </p:txBody>
      </p:sp>
      <p:sp>
        <p:nvSpPr>
          <p:cNvPr id="8" name="TextBox 7">
            <a:extLst>
              <a:ext uri="{FF2B5EF4-FFF2-40B4-BE49-F238E27FC236}">
                <a16:creationId xmlns:a16="http://schemas.microsoft.com/office/drawing/2014/main" id="{43A0B1C5-C961-5570-8CA6-747E104A31EF}"/>
              </a:ext>
            </a:extLst>
          </p:cNvPr>
          <p:cNvSpPr txBox="1"/>
          <p:nvPr/>
        </p:nvSpPr>
        <p:spPr>
          <a:xfrm>
            <a:off x="575031" y="2476250"/>
            <a:ext cx="1983834" cy="338554"/>
          </a:xfrm>
          <a:prstGeom prst="rect">
            <a:avLst/>
          </a:prstGeom>
          <a:noFill/>
        </p:spPr>
        <p:txBody>
          <a:bodyPr wrap="square">
            <a:spAutoFit/>
          </a:bodyPr>
          <a:lstStyle/>
          <a:p>
            <a:r>
              <a:rPr lang="en-US" sz="1600" b="1" dirty="0">
                <a:solidFill>
                  <a:srgbClr val="FF0000"/>
                </a:solidFill>
              </a:rPr>
              <a:t>2. </a:t>
            </a:r>
            <a:r>
              <a:rPr lang="en-US" sz="1400" dirty="0"/>
              <a:t>Total Margin</a:t>
            </a:r>
          </a:p>
        </p:txBody>
      </p:sp>
      <p:sp>
        <p:nvSpPr>
          <p:cNvPr id="15" name="TextBox 14">
            <a:extLst>
              <a:ext uri="{FF2B5EF4-FFF2-40B4-BE49-F238E27FC236}">
                <a16:creationId xmlns:a16="http://schemas.microsoft.com/office/drawing/2014/main" id="{7F9C8CA2-E909-3246-F6BF-3E7C09C22CCB}"/>
              </a:ext>
            </a:extLst>
          </p:cNvPr>
          <p:cNvSpPr txBox="1"/>
          <p:nvPr/>
        </p:nvSpPr>
        <p:spPr>
          <a:xfrm>
            <a:off x="575031" y="3628051"/>
            <a:ext cx="1861952" cy="338554"/>
          </a:xfrm>
          <a:prstGeom prst="rect">
            <a:avLst/>
          </a:prstGeom>
          <a:noFill/>
        </p:spPr>
        <p:txBody>
          <a:bodyPr wrap="square">
            <a:spAutoFit/>
          </a:bodyPr>
          <a:lstStyle/>
          <a:p>
            <a:r>
              <a:rPr lang="en-US" sz="1600" b="1" dirty="0">
                <a:solidFill>
                  <a:srgbClr val="FF0000"/>
                </a:solidFill>
              </a:rPr>
              <a:t>3. </a:t>
            </a:r>
            <a:r>
              <a:rPr lang="en-US" sz="1400" dirty="0"/>
              <a:t>Sum Quantity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5B370C5-033F-4F54-72AE-C1B95A2D3B9D}"/>
                  </a:ext>
                </a:extLst>
              </p:cNvPr>
              <p:cNvSpPr txBox="1"/>
              <p:nvPr/>
            </p:nvSpPr>
            <p:spPr>
              <a:xfrm>
                <a:off x="193185" y="4935214"/>
                <a:ext cx="3125050" cy="683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nary>
                            <m:naryPr>
                              <m:chr m:val="∑"/>
                              <m:subHide m:val="on"/>
                              <m:supHide m:val="on"/>
                              <m:ctrlPr>
                                <a:rPr lang="en-US" i="1" smtClean="0">
                                  <a:latin typeface="Cambria Math" panose="02040503050406030204" pitchFamily="18" charset="0"/>
                                </a:rPr>
                              </m:ctrlPr>
                            </m:naryPr>
                            <m:sub/>
                            <m:sup/>
                            <m:e>
                              <m:d>
                                <m:dPr>
                                  <m:begChr m:val="["/>
                                  <m:endChr m:val="]"/>
                                  <m:ctrlPr>
                                    <a:rPr lang="it-IT" b="0" i="1" smtClean="0">
                                      <a:latin typeface="Cambria Math" panose="02040503050406030204" pitchFamily="18" charset="0"/>
                                    </a:rPr>
                                  </m:ctrlPr>
                                </m:dPr>
                                <m:e>
                                  <m:r>
                                    <m:rPr>
                                      <m:sty m:val="p"/>
                                    </m:rPr>
                                    <a:rPr lang="it-IT" b="0" i="0" smtClean="0">
                                      <a:latin typeface="Cambria Math" panose="02040503050406030204" pitchFamily="18" charset="0"/>
                                    </a:rPr>
                                    <m:t>Margin</m:t>
                                  </m:r>
                                </m:e>
                              </m:d>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num>
                        <m:den>
                          <m:nary>
                            <m:naryPr>
                              <m:chr m:val="∑"/>
                              <m:subHide m:val="on"/>
                              <m:supHide m:val="on"/>
                              <m:ctrlPr>
                                <a:rPr lang="en-US" i="1" smtClean="0">
                                  <a:latin typeface="Cambria Math" panose="02040503050406030204" pitchFamily="18" charset="0"/>
                                </a:rPr>
                              </m:ctrlPr>
                            </m:naryPr>
                            <m:sub/>
                            <m:sup/>
                            <m:e>
                              <m:r>
                                <a:rPr lang="it-IT" b="0" i="1" smtClean="0">
                                  <a:latin typeface="Cambria Math" panose="02040503050406030204" pitchFamily="18" charset="0"/>
                                </a:rPr>
                                <m:t>[</m:t>
                              </m:r>
                              <m:r>
                                <m:rPr>
                                  <m:sty m:val="p"/>
                                </m:rPr>
                                <a:rPr lang="it-IT" b="0" i="0" smtClean="0">
                                  <a:latin typeface="Cambria Math" panose="02040503050406030204" pitchFamily="18" charset="0"/>
                                </a:rPr>
                                <m:t>Quantity</m:t>
                              </m:r>
                              <m:r>
                                <a:rPr lang="it-IT" b="0" i="1" smtClean="0">
                                  <a:latin typeface="Cambria Math" panose="02040503050406030204" pitchFamily="18" charset="0"/>
                                </a:rPr>
                                <m:t>]</m:t>
                              </m:r>
                            </m:e>
                          </m:nary>
                        </m:den>
                      </m:f>
                    </m:oMath>
                  </m:oMathPara>
                </a14:m>
                <a:endParaRPr lang="en-US" dirty="0"/>
              </a:p>
            </p:txBody>
          </p:sp>
        </mc:Choice>
        <mc:Fallback xmlns="">
          <p:sp>
            <p:nvSpPr>
              <p:cNvPr id="16" name="TextBox 15">
                <a:extLst>
                  <a:ext uri="{FF2B5EF4-FFF2-40B4-BE49-F238E27FC236}">
                    <a16:creationId xmlns:a16="http://schemas.microsoft.com/office/drawing/2014/main" id="{95B370C5-033F-4F54-72AE-C1B95A2D3B9D}"/>
                  </a:ext>
                </a:extLst>
              </p:cNvPr>
              <p:cNvSpPr txBox="1">
                <a:spLocks noRot="1" noChangeAspect="1" noMove="1" noResize="1" noEditPoints="1" noAdjustHandles="1" noChangeArrowheads="1" noChangeShapeType="1" noTextEdit="1"/>
              </p:cNvSpPr>
              <p:nvPr/>
            </p:nvSpPr>
            <p:spPr>
              <a:xfrm>
                <a:off x="193185" y="4935214"/>
                <a:ext cx="3125050" cy="683264"/>
              </a:xfrm>
              <a:prstGeom prst="rect">
                <a:avLst/>
              </a:prstGeom>
              <a:blipFill>
                <a:blip r:embed="rId3"/>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90909BD-9130-31CA-D3F8-FEAC2DA34136}"/>
              </a:ext>
            </a:extLst>
          </p:cNvPr>
          <p:cNvSpPr txBox="1"/>
          <p:nvPr/>
        </p:nvSpPr>
        <p:spPr>
          <a:xfrm>
            <a:off x="521207" y="4685874"/>
            <a:ext cx="2797028" cy="338554"/>
          </a:xfrm>
          <a:prstGeom prst="rect">
            <a:avLst/>
          </a:prstGeom>
          <a:noFill/>
        </p:spPr>
        <p:txBody>
          <a:bodyPr wrap="square">
            <a:spAutoFit/>
          </a:bodyPr>
          <a:lstStyle/>
          <a:p>
            <a:r>
              <a:rPr lang="en-US" sz="1600" b="1" dirty="0">
                <a:solidFill>
                  <a:srgbClr val="FF0000"/>
                </a:solidFill>
              </a:rPr>
              <a:t>4. </a:t>
            </a:r>
            <a:r>
              <a:rPr lang="en-US" sz="1400" dirty="0"/>
              <a:t>Weighted margin per unit</a:t>
            </a:r>
          </a:p>
        </p:txBody>
      </p:sp>
      <p:pic>
        <p:nvPicPr>
          <p:cNvPr id="40" name="Picture 39">
            <a:extLst>
              <a:ext uri="{FF2B5EF4-FFF2-40B4-BE49-F238E27FC236}">
                <a16:creationId xmlns:a16="http://schemas.microsoft.com/office/drawing/2014/main" id="{049ED3EA-C430-31A6-072C-7268AAFC340E}"/>
              </a:ext>
            </a:extLst>
          </p:cNvPr>
          <p:cNvPicPr>
            <a:picLocks noChangeAspect="1"/>
          </p:cNvPicPr>
          <p:nvPr/>
        </p:nvPicPr>
        <p:blipFill>
          <a:blip r:embed="rId4"/>
          <a:stretch>
            <a:fillRect/>
          </a:stretch>
        </p:blipFill>
        <p:spPr>
          <a:xfrm>
            <a:off x="10536459" y="1350553"/>
            <a:ext cx="1080510" cy="4893550"/>
          </a:xfrm>
          <a:prstGeom prst="rect">
            <a:avLst/>
          </a:prstGeom>
        </p:spPr>
      </p:pic>
      <p:sp>
        <p:nvSpPr>
          <p:cNvPr id="42" name="TextBox 41">
            <a:extLst>
              <a:ext uri="{FF2B5EF4-FFF2-40B4-BE49-F238E27FC236}">
                <a16:creationId xmlns:a16="http://schemas.microsoft.com/office/drawing/2014/main" id="{7059D9CB-4646-C05A-EB70-E62033D93F63}"/>
              </a:ext>
            </a:extLst>
          </p:cNvPr>
          <p:cNvSpPr txBox="1"/>
          <p:nvPr/>
        </p:nvSpPr>
        <p:spPr>
          <a:xfrm>
            <a:off x="521207" y="5693253"/>
            <a:ext cx="6094428" cy="307777"/>
          </a:xfrm>
          <a:prstGeom prst="rect">
            <a:avLst/>
          </a:prstGeom>
          <a:noFill/>
        </p:spPr>
        <p:txBody>
          <a:bodyPr wrap="square">
            <a:spAutoFit/>
          </a:bodyPr>
          <a:lstStyle/>
          <a:p>
            <a:r>
              <a:rPr lang="en-US" sz="1400" dirty="0"/>
              <a:t>product quantities can vary, it allows for a precise evaluation of profitability</a:t>
            </a:r>
          </a:p>
        </p:txBody>
      </p:sp>
      <p:pic>
        <p:nvPicPr>
          <p:cNvPr id="6" name="Picture 5">
            <a:extLst>
              <a:ext uri="{FF2B5EF4-FFF2-40B4-BE49-F238E27FC236}">
                <a16:creationId xmlns:a16="http://schemas.microsoft.com/office/drawing/2014/main" id="{AC5683B2-F53C-83EA-7093-E94C2B77DB77}"/>
              </a:ext>
            </a:extLst>
          </p:cNvPr>
          <p:cNvPicPr>
            <a:picLocks noChangeAspect="1"/>
          </p:cNvPicPr>
          <p:nvPr/>
        </p:nvPicPr>
        <p:blipFill>
          <a:blip r:embed="rId5"/>
          <a:stretch>
            <a:fillRect/>
          </a:stretch>
        </p:blipFill>
        <p:spPr>
          <a:xfrm>
            <a:off x="3318235" y="1552828"/>
            <a:ext cx="6701591" cy="3841267"/>
          </a:xfrm>
          <a:prstGeom prst="rect">
            <a:avLst/>
          </a:prstGeom>
        </p:spPr>
      </p:pic>
      <p:cxnSp>
        <p:nvCxnSpPr>
          <p:cNvPr id="77" name="Straight Arrow Connector 76">
            <a:extLst>
              <a:ext uri="{FF2B5EF4-FFF2-40B4-BE49-F238E27FC236}">
                <a16:creationId xmlns:a16="http://schemas.microsoft.com/office/drawing/2014/main" id="{B245860E-1458-6DBB-9B5A-5982BF0AF194}"/>
              </a:ext>
            </a:extLst>
          </p:cNvPr>
          <p:cNvCxnSpPr>
            <a:cxnSpLocks/>
          </p:cNvCxnSpPr>
          <p:nvPr/>
        </p:nvCxnSpPr>
        <p:spPr>
          <a:xfrm flipH="1" flipV="1">
            <a:off x="2941163" y="4880006"/>
            <a:ext cx="398514" cy="584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1" name="Straight Arrow Connector 70">
            <a:extLst>
              <a:ext uri="{FF2B5EF4-FFF2-40B4-BE49-F238E27FC236}">
                <a16:creationId xmlns:a16="http://schemas.microsoft.com/office/drawing/2014/main" id="{01E89C57-F436-9739-30A4-95726874927D}"/>
              </a:ext>
            </a:extLst>
          </p:cNvPr>
          <p:cNvCxnSpPr>
            <a:cxnSpLocks/>
          </p:cNvCxnSpPr>
          <p:nvPr/>
        </p:nvCxnSpPr>
        <p:spPr>
          <a:xfrm flipH="1" flipV="1">
            <a:off x="1979629" y="1722105"/>
            <a:ext cx="1442301" cy="254262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3" name="Straight Arrow Connector 72">
            <a:extLst>
              <a:ext uri="{FF2B5EF4-FFF2-40B4-BE49-F238E27FC236}">
                <a16:creationId xmlns:a16="http://schemas.microsoft.com/office/drawing/2014/main" id="{21B066AD-58EB-A8C4-6955-1BF860BCF957}"/>
              </a:ext>
            </a:extLst>
          </p:cNvPr>
          <p:cNvCxnSpPr>
            <a:cxnSpLocks/>
          </p:cNvCxnSpPr>
          <p:nvPr/>
        </p:nvCxnSpPr>
        <p:spPr>
          <a:xfrm flipH="1" flipV="1">
            <a:off x="1866507" y="2884602"/>
            <a:ext cx="1555423" cy="159376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5" name="Straight Arrow Connector 74">
            <a:extLst>
              <a:ext uri="{FF2B5EF4-FFF2-40B4-BE49-F238E27FC236}">
                <a16:creationId xmlns:a16="http://schemas.microsoft.com/office/drawing/2014/main" id="{E5B55FAE-B116-4E43-0046-F66A9D899713}"/>
              </a:ext>
            </a:extLst>
          </p:cNvPr>
          <p:cNvCxnSpPr>
            <a:cxnSpLocks/>
          </p:cNvCxnSpPr>
          <p:nvPr/>
        </p:nvCxnSpPr>
        <p:spPr>
          <a:xfrm flipH="1" flipV="1">
            <a:off x="2076306" y="3846136"/>
            <a:ext cx="1345624" cy="8704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7C4D980F-14FE-7792-719F-32C1A1C23842}"/>
              </a:ext>
            </a:extLst>
          </p:cNvPr>
          <p:cNvSpPr txBox="1"/>
          <p:nvPr/>
        </p:nvSpPr>
        <p:spPr>
          <a:xfrm>
            <a:off x="521207" y="1307775"/>
            <a:ext cx="3918818" cy="338554"/>
          </a:xfrm>
          <a:prstGeom prst="rect">
            <a:avLst/>
          </a:prstGeom>
          <a:noFill/>
        </p:spPr>
        <p:txBody>
          <a:bodyPr wrap="square">
            <a:spAutoFit/>
          </a:bodyPr>
          <a:lstStyle/>
          <a:p>
            <a:r>
              <a:rPr lang="en-US" sz="1600" b="1" dirty="0">
                <a:solidFill>
                  <a:srgbClr val="FF0000"/>
                </a:solidFill>
              </a:rPr>
              <a:t>1. </a:t>
            </a:r>
            <a:r>
              <a:rPr lang="en-US" sz="1400" dirty="0"/>
              <a:t>Count distinct Customer Numbers</a:t>
            </a:r>
          </a:p>
        </p:txBody>
      </p:sp>
      <p:sp>
        <p:nvSpPr>
          <p:cNvPr id="13" name="Slide Number Placeholder 12">
            <a:extLst>
              <a:ext uri="{FF2B5EF4-FFF2-40B4-BE49-F238E27FC236}">
                <a16:creationId xmlns:a16="http://schemas.microsoft.com/office/drawing/2014/main" id="{1735B706-0ABD-9EB1-1A8B-51E2356F5A15}"/>
              </a:ext>
            </a:extLst>
          </p:cNvPr>
          <p:cNvSpPr>
            <a:spLocks noGrp="1"/>
          </p:cNvSpPr>
          <p:nvPr>
            <p:ph type="sldNum" sz="quarter" idx="4"/>
          </p:nvPr>
        </p:nvSpPr>
        <p:spPr/>
        <p:txBody>
          <a:bodyPr/>
          <a:lstStyle/>
          <a:p>
            <a:fld id="{9860EDB8-5305-433F-BE41-D7A86D811DB3}" type="slidenum">
              <a:rPr lang="en-US" smtClean="0"/>
              <a:pPr/>
              <a:t>10</a:t>
            </a:fld>
            <a:endParaRPr lang="en-US" dirty="0"/>
          </a:p>
        </p:txBody>
      </p:sp>
    </p:spTree>
    <p:extLst>
      <p:ext uri="{BB962C8B-B14F-4D97-AF65-F5344CB8AC3E}">
        <p14:creationId xmlns:p14="http://schemas.microsoft.com/office/powerpoint/2010/main" val="342593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ACFA-7D88-BDBB-E4B2-FB574AE43F95}"/>
              </a:ext>
            </a:extLst>
          </p:cNvPr>
          <p:cNvSpPr>
            <a:spLocks noGrp="1"/>
          </p:cNvSpPr>
          <p:nvPr>
            <p:ph type="title"/>
          </p:nvPr>
        </p:nvSpPr>
        <p:spPr/>
        <p:txBody>
          <a:bodyPr/>
          <a:lstStyle/>
          <a:p>
            <a:r>
              <a:rPr lang="it-IT" b="1" dirty="0">
                <a:solidFill>
                  <a:srgbClr val="C00000"/>
                </a:solidFill>
              </a:rPr>
              <a:t>4.2. </a:t>
            </a:r>
            <a:r>
              <a:rPr lang="it-IT" dirty="0"/>
              <a:t>Store </a:t>
            </a:r>
            <a:r>
              <a:rPr lang="it-IT" dirty="0" err="1"/>
              <a:t>Indicators</a:t>
            </a:r>
            <a:endParaRPr lang="en-US" dirty="0"/>
          </a:p>
        </p:txBody>
      </p:sp>
      <p:pic>
        <p:nvPicPr>
          <p:cNvPr id="7" name="Picture 6">
            <a:extLst>
              <a:ext uri="{FF2B5EF4-FFF2-40B4-BE49-F238E27FC236}">
                <a16:creationId xmlns:a16="http://schemas.microsoft.com/office/drawing/2014/main" id="{E27B70EB-221A-EDA8-614D-F1F7A0ACD222}"/>
              </a:ext>
            </a:extLst>
          </p:cNvPr>
          <p:cNvPicPr>
            <a:picLocks noChangeAspect="1"/>
          </p:cNvPicPr>
          <p:nvPr/>
        </p:nvPicPr>
        <p:blipFill>
          <a:blip r:embed="rId3"/>
          <a:stretch>
            <a:fillRect/>
          </a:stretch>
        </p:blipFill>
        <p:spPr>
          <a:xfrm>
            <a:off x="634075" y="2852277"/>
            <a:ext cx="4121230" cy="3808586"/>
          </a:xfrm>
          <a:prstGeom prst="rect">
            <a:avLst/>
          </a:prstGeom>
        </p:spPr>
      </p:pic>
      <p:sp>
        <p:nvSpPr>
          <p:cNvPr id="11" name="TextBox 10">
            <a:extLst>
              <a:ext uri="{FF2B5EF4-FFF2-40B4-BE49-F238E27FC236}">
                <a16:creationId xmlns:a16="http://schemas.microsoft.com/office/drawing/2014/main" id="{35C3F52F-0DD7-D52F-0B2F-0C5DDFE074AB}"/>
              </a:ext>
            </a:extLst>
          </p:cNvPr>
          <p:cNvSpPr txBox="1"/>
          <p:nvPr/>
        </p:nvSpPr>
        <p:spPr>
          <a:xfrm>
            <a:off x="634076" y="1224096"/>
            <a:ext cx="3338902" cy="861774"/>
          </a:xfrm>
          <a:prstGeom prst="rect">
            <a:avLst/>
          </a:prstGeom>
          <a:noFill/>
        </p:spPr>
        <p:txBody>
          <a:bodyPr wrap="square">
            <a:spAutoFit/>
          </a:bodyPr>
          <a:lstStyle/>
          <a:p>
            <a:r>
              <a:rPr lang="en-US" sz="1400" b="1" dirty="0"/>
              <a:t>Map:</a:t>
            </a:r>
          </a:p>
          <a:p>
            <a:r>
              <a:rPr lang="en-US" sz="1200" i="1" dirty="0"/>
              <a:t>Size:</a:t>
            </a:r>
            <a:r>
              <a:rPr lang="en-US" sz="1200" dirty="0"/>
              <a:t> absolute value of the total margin</a:t>
            </a:r>
          </a:p>
          <a:p>
            <a:r>
              <a:rPr lang="en-US" sz="1200" i="1" dirty="0"/>
              <a:t>Color:</a:t>
            </a:r>
            <a:r>
              <a:rPr lang="en-US" sz="1200" dirty="0"/>
              <a:t> sum of the total margin.</a:t>
            </a:r>
          </a:p>
          <a:p>
            <a:r>
              <a:rPr lang="en-US" sz="1200" i="1" dirty="0"/>
              <a:t>Label: </a:t>
            </a:r>
            <a:r>
              <a:rPr lang="en-US" sz="1200" dirty="0"/>
              <a:t>sum of the quantity</a:t>
            </a:r>
          </a:p>
        </p:txBody>
      </p:sp>
      <p:sp>
        <p:nvSpPr>
          <p:cNvPr id="13" name="TextBox 12">
            <a:extLst>
              <a:ext uri="{FF2B5EF4-FFF2-40B4-BE49-F238E27FC236}">
                <a16:creationId xmlns:a16="http://schemas.microsoft.com/office/drawing/2014/main" id="{A46C1A21-1860-6908-6E54-5EE23B673A24}"/>
              </a:ext>
            </a:extLst>
          </p:cNvPr>
          <p:cNvSpPr txBox="1"/>
          <p:nvPr/>
        </p:nvSpPr>
        <p:spPr>
          <a:xfrm>
            <a:off x="634075" y="2125397"/>
            <a:ext cx="4121229" cy="738664"/>
          </a:xfrm>
          <a:prstGeom prst="rect">
            <a:avLst/>
          </a:prstGeom>
          <a:noFill/>
        </p:spPr>
        <p:txBody>
          <a:bodyPr wrap="square">
            <a:spAutoFit/>
          </a:bodyPr>
          <a:lstStyle/>
          <a:p>
            <a:pPr algn="just"/>
            <a:r>
              <a:rPr lang="en-US" sz="1400" dirty="0"/>
              <a:t>Allows to analyze where the products have been sold and identifies areas with more negative margins</a:t>
            </a:r>
          </a:p>
        </p:txBody>
      </p:sp>
      <p:sp>
        <p:nvSpPr>
          <p:cNvPr id="6" name="TextBox 5">
            <a:extLst>
              <a:ext uri="{FF2B5EF4-FFF2-40B4-BE49-F238E27FC236}">
                <a16:creationId xmlns:a16="http://schemas.microsoft.com/office/drawing/2014/main" id="{8628F805-590F-723B-7EE1-FFDA463528BE}"/>
              </a:ext>
            </a:extLst>
          </p:cNvPr>
          <p:cNvSpPr txBox="1"/>
          <p:nvPr/>
        </p:nvSpPr>
        <p:spPr>
          <a:xfrm>
            <a:off x="5995448" y="4992433"/>
            <a:ext cx="5916080" cy="1384995"/>
          </a:xfrm>
          <a:prstGeom prst="rect">
            <a:avLst/>
          </a:prstGeom>
          <a:noFill/>
        </p:spPr>
        <p:txBody>
          <a:bodyPr wrap="square">
            <a:spAutoFit/>
          </a:bodyPr>
          <a:lstStyle/>
          <a:p>
            <a:pPr algn="just"/>
            <a:r>
              <a:rPr lang="en-US" sz="1400" b="1" dirty="0">
                <a:solidFill>
                  <a:srgbClr val="FF0000"/>
                </a:solidFill>
              </a:rPr>
              <a:t>1. </a:t>
            </a:r>
            <a:r>
              <a:rPr lang="en-US" sz="1400" dirty="0"/>
              <a:t>It allows identifying which cashiers generate the highest and lowest margin relative to the quantities sold. </a:t>
            </a:r>
          </a:p>
          <a:p>
            <a:pPr algn="just"/>
            <a:r>
              <a:rPr lang="en-US" sz="1400" b="1" dirty="0">
                <a:solidFill>
                  <a:srgbClr val="FF0000"/>
                </a:solidFill>
              </a:rPr>
              <a:t>2. </a:t>
            </a:r>
            <a:r>
              <a:rPr lang="en-US" sz="1400" dirty="0"/>
              <a:t>When compared with the main indicator for "margin by hours of the day," it helps assess a specific cashier's performance throughout the day</a:t>
            </a:r>
          </a:p>
          <a:p>
            <a:pPr algn="just"/>
            <a:r>
              <a:rPr lang="en-US" sz="1400" b="1" dirty="0">
                <a:solidFill>
                  <a:srgbClr val="FF0000"/>
                </a:solidFill>
              </a:rPr>
              <a:t>3. </a:t>
            </a:r>
            <a:r>
              <a:rPr lang="en-US" sz="1400" dirty="0"/>
              <a:t>It is possible to identify cashiers who have sold a specific product or work at a specific store by using the previous indicators as filters</a:t>
            </a:r>
          </a:p>
        </p:txBody>
      </p:sp>
      <p:pic>
        <p:nvPicPr>
          <p:cNvPr id="8" name="Picture 7">
            <a:extLst>
              <a:ext uri="{FF2B5EF4-FFF2-40B4-BE49-F238E27FC236}">
                <a16:creationId xmlns:a16="http://schemas.microsoft.com/office/drawing/2014/main" id="{32334670-1EF6-480F-4FE4-94D13B66E3D6}"/>
              </a:ext>
            </a:extLst>
          </p:cNvPr>
          <p:cNvPicPr>
            <a:picLocks noChangeAspect="1"/>
          </p:cNvPicPr>
          <p:nvPr/>
        </p:nvPicPr>
        <p:blipFill>
          <a:blip r:embed="rId4"/>
          <a:stretch>
            <a:fillRect/>
          </a:stretch>
        </p:blipFill>
        <p:spPr>
          <a:xfrm>
            <a:off x="6798605" y="1224096"/>
            <a:ext cx="4121230" cy="3653117"/>
          </a:xfrm>
          <a:prstGeom prst="rect">
            <a:avLst/>
          </a:prstGeom>
        </p:spPr>
      </p:pic>
      <p:sp>
        <p:nvSpPr>
          <p:cNvPr id="12" name="Slide Number Placeholder 11">
            <a:extLst>
              <a:ext uri="{FF2B5EF4-FFF2-40B4-BE49-F238E27FC236}">
                <a16:creationId xmlns:a16="http://schemas.microsoft.com/office/drawing/2014/main" id="{AEFFEFE7-F749-5D6F-9C4A-B15AFEA0C49E}"/>
              </a:ext>
            </a:extLst>
          </p:cNvPr>
          <p:cNvSpPr>
            <a:spLocks noGrp="1"/>
          </p:cNvSpPr>
          <p:nvPr>
            <p:ph type="sldNum" sz="quarter" idx="4"/>
          </p:nvPr>
        </p:nvSpPr>
        <p:spPr/>
        <p:txBody>
          <a:bodyPr/>
          <a:lstStyle/>
          <a:p>
            <a:fld id="{9860EDB8-5305-433F-BE41-D7A86D811DB3}" type="slidenum">
              <a:rPr lang="en-US" smtClean="0"/>
              <a:pPr/>
              <a:t>11</a:t>
            </a:fld>
            <a:endParaRPr lang="en-US" dirty="0"/>
          </a:p>
        </p:txBody>
      </p:sp>
    </p:spTree>
    <p:extLst>
      <p:ext uri="{BB962C8B-B14F-4D97-AF65-F5344CB8AC3E}">
        <p14:creationId xmlns:p14="http://schemas.microsoft.com/office/powerpoint/2010/main" val="2501146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C232C-EBDB-7D38-534A-3A0831D46634}"/>
              </a:ext>
            </a:extLst>
          </p:cNvPr>
          <p:cNvSpPr>
            <a:spLocks noGrp="1"/>
          </p:cNvSpPr>
          <p:nvPr>
            <p:ph type="title"/>
          </p:nvPr>
        </p:nvSpPr>
        <p:spPr/>
        <p:txBody>
          <a:bodyPr/>
          <a:lstStyle/>
          <a:p>
            <a:r>
              <a:rPr lang="it-IT" b="1" dirty="0">
                <a:solidFill>
                  <a:srgbClr val="C00000"/>
                </a:solidFill>
              </a:rPr>
              <a:t>4.3. </a:t>
            </a:r>
            <a:r>
              <a:rPr lang="it-IT" dirty="0"/>
              <a:t>Customer </a:t>
            </a:r>
            <a:r>
              <a:rPr lang="it-IT" dirty="0" err="1"/>
              <a:t>Indicators</a:t>
            </a:r>
            <a:endParaRPr lang="en-US" dirty="0"/>
          </a:p>
        </p:txBody>
      </p:sp>
      <p:pic>
        <p:nvPicPr>
          <p:cNvPr id="7" name="Picture 6">
            <a:extLst>
              <a:ext uri="{FF2B5EF4-FFF2-40B4-BE49-F238E27FC236}">
                <a16:creationId xmlns:a16="http://schemas.microsoft.com/office/drawing/2014/main" id="{D059787A-8ABA-E034-7D7D-B5403D54BE91}"/>
              </a:ext>
            </a:extLst>
          </p:cNvPr>
          <p:cNvPicPr>
            <a:picLocks noChangeAspect="1"/>
          </p:cNvPicPr>
          <p:nvPr/>
        </p:nvPicPr>
        <p:blipFill>
          <a:blip r:embed="rId2"/>
          <a:srcRect l="3236" b="15754"/>
          <a:stretch/>
        </p:blipFill>
        <p:spPr>
          <a:xfrm>
            <a:off x="8599603" y="2457925"/>
            <a:ext cx="2105595" cy="1916804"/>
          </a:xfrm>
          <a:prstGeom prst="rect">
            <a:avLst/>
          </a:prstGeom>
        </p:spPr>
      </p:pic>
      <p:pic>
        <p:nvPicPr>
          <p:cNvPr id="8" name="Picture 7">
            <a:extLst>
              <a:ext uri="{FF2B5EF4-FFF2-40B4-BE49-F238E27FC236}">
                <a16:creationId xmlns:a16="http://schemas.microsoft.com/office/drawing/2014/main" id="{6CCBEC00-2157-58C5-4DE1-D04AC5A578B1}"/>
              </a:ext>
            </a:extLst>
          </p:cNvPr>
          <p:cNvPicPr>
            <a:picLocks noChangeAspect="1"/>
          </p:cNvPicPr>
          <p:nvPr/>
        </p:nvPicPr>
        <p:blipFill>
          <a:blip r:embed="rId3"/>
          <a:stretch>
            <a:fillRect/>
          </a:stretch>
        </p:blipFill>
        <p:spPr>
          <a:xfrm>
            <a:off x="530844" y="2362882"/>
            <a:ext cx="2439244" cy="3999136"/>
          </a:xfrm>
          <a:prstGeom prst="rect">
            <a:avLst/>
          </a:prstGeom>
        </p:spPr>
      </p:pic>
      <p:pic>
        <p:nvPicPr>
          <p:cNvPr id="10" name="Picture 9">
            <a:extLst>
              <a:ext uri="{FF2B5EF4-FFF2-40B4-BE49-F238E27FC236}">
                <a16:creationId xmlns:a16="http://schemas.microsoft.com/office/drawing/2014/main" id="{9F1CC3DF-7E89-8F4A-4E48-C0A3616D5122}"/>
              </a:ext>
            </a:extLst>
          </p:cNvPr>
          <p:cNvPicPr>
            <a:picLocks noChangeAspect="1"/>
          </p:cNvPicPr>
          <p:nvPr/>
        </p:nvPicPr>
        <p:blipFill>
          <a:blip r:embed="rId4"/>
          <a:stretch>
            <a:fillRect/>
          </a:stretch>
        </p:blipFill>
        <p:spPr>
          <a:xfrm>
            <a:off x="530844" y="1270213"/>
            <a:ext cx="4659669" cy="910592"/>
          </a:xfrm>
          <a:prstGeom prst="rect">
            <a:avLst/>
          </a:prstGeom>
        </p:spPr>
      </p:pic>
      <p:sp>
        <p:nvSpPr>
          <p:cNvPr id="11" name="TextBox 10">
            <a:extLst>
              <a:ext uri="{FF2B5EF4-FFF2-40B4-BE49-F238E27FC236}">
                <a16:creationId xmlns:a16="http://schemas.microsoft.com/office/drawing/2014/main" id="{570DDE08-B8D3-1A3D-5F46-E909676FB4C4}"/>
              </a:ext>
            </a:extLst>
          </p:cNvPr>
          <p:cNvSpPr txBox="1"/>
          <p:nvPr/>
        </p:nvSpPr>
        <p:spPr>
          <a:xfrm>
            <a:off x="3001295" y="2457925"/>
            <a:ext cx="3761787" cy="1231106"/>
          </a:xfrm>
          <a:prstGeom prst="rect">
            <a:avLst/>
          </a:prstGeom>
          <a:noFill/>
        </p:spPr>
        <p:txBody>
          <a:bodyPr wrap="square">
            <a:spAutoFit/>
          </a:bodyPr>
          <a:lstStyle/>
          <a:p>
            <a:pPr algn="just"/>
            <a:r>
              <a:rPr lang="en-US" sz="1600" b="1" dirty="0">
                <a:solidFill>
                  <a:srgbClr val="FF0000"/>
                </a:solidFill>
              </a:rPr>
              <a:t>1. </a:t>
            </a:r>
            <a:r>
              <a:rPr lang="en-US" sz="1400" dirty="0"/>
              <a:t>Customer age calculated from January 2013, since the latest recorded sales are from the beginning of 2012</a:t>
            </a:r>
          </a:p>
          <a:p>
            <a:pPr algn="just"/>
            <a:endParaRPr lang="en-US" sz="1400" dirty="0"/>
          </a:p>
          <a:p>
            <a:pPr algn="just"/>
            <a:r>
              <a:rPr lang="en-US" sz="1600" b="1" dirty="0">
                <a:solidFill>
                  <a:srgbClr val="FF0000"/>
                </a:solidFill>
              </a:rPr>
              <a:t>2. </a:t>
            </a:r>
            <a:r>
              <a:rPr lang="en-US" sz="1400" dirty="0"/>
              <a:t>Also used as filter</a:t>
            </a:r>
          </a:p>
        </p:txBody>
      </p:sp>
      <p:pic>
        <p:nvPicPr>
          <p:cNvPr id="19" name="Picture 18">
            <a:extLst>
              <a:ext uri="{FF2B5EF4-FFF2-40B4-BE49-F238E27FC236}">
                <a16:creationId xmlns:a16="http://schemas.microsoft.com/office/drawing/2014/main" id="{83B74143-F3F8-6CA8-4580-ED0F4F3B49C2}"/>
              </a:ext>
            </a:extLst>
          </p:cNvPr>
          <p:cNvPicPr>
            <a:picLocks noChangeAspect="1"/>
          </p:cNvPicPr>
          <p:nvPr/>
        </p:nvPicPr>
        <p:blipFill>
          <a:blip r:embed="rId5"/>
          <a:stretch>
            <a:fillRect/>
          </a:stretch>
        </p:blipFill>
        <p:spPr>
          <a:xfrm>
            <a:off x="3169191" y="4543044"/>
            <a:ext cx="1581150" cy="1866900"/>
          </a:xfrm>
          <a:prstGeom prst="rect">
            <a:avLst/>
          </a:prstGeom>
        </p:spPr>
      </p:pic>
      <p:sp>
        <p:nvSpPr>
          <p:cNvPr id="4" name="TextBox 3">
            <a:extLst>
              <a:ext uri="{FF2B5EF4-FFF2-40B4-BE49-F238E27FC236}">
                <a16:creationId xmlns:a16="http://schemas.microsoft.com/office/drawing/2014/main" id="{0BCE7007-2CCF-DBC0-8DF4-99FA3F50F6FE}"/>
              </a:ext>
            </a:extLst>
          </p:cNvPr>
          <p:cNvSpPr txBox="1"/>
          <p:nvPr/>
        </p:nvSpPr>
        <p:spPr>
          <a:xfrm>
            <a:off x="8599603" y="4421187"/>
            <a:ext cx="3117915" cy="738664"/>
          </a:xfrm>
          <a:prstGeom prst="rect">
            <a:avLst/>
          </a:prstGeom>
          <a:noFill/>
        </p:spPr>
        <p:txBody>
          <a:bodyPr wrap="square">
            <a:spAutoFit/>
          </a:bodyPr>
          <a:lstStyle/>
          <a:p>
            <a:r>
              <a:rPr lang="en-US" sz="1400" b="1" dirty="0"/>
              <a:t>Pie chart :</a:t>
            </a:r>
          </a:p>
          <a:p>
            <a:r>
              <a:rPr lang="en-US" sz="1400" dirty="0"/>
              <a:t>shows the percentage of total quantity sold based on civility</a:t>
            </a:r>
          </a:p>
        </p:txBody>
      </p:sp>
      <p:cxnSp>
        <p:nvCxnSpPr>
          <p:cNvPr id="9" name="Straight Arrow Connector 8">
            <a:extLst>
              <a:ext uri="{FF2B5EF4-FFF2-40B4-BE49-F238E27FC236}">
                <a16:creationId xmlns:a16="http://schemas.microsoft.com/office/drawing/2014/main" id="{E66330A4-67B5-C7CD-86BE-040666EED6D6}"/>
              </a:ext>
            </a:extLst>
          </p:cNvPr>
          <p:cNvCxnSpPr/>
          <p:nvPr/>
        </p:nvCxnSpPr>
        <p:spPr>
          <a:xfrm flipV="1">
            <a:off x="2262433" y="2119137"/>
            <a:ext cx="0" cy="35146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Slide Number Placeholder 13">
            <a:extLst>
              <a:ext uri="{FF2B5EF4-FFF2-40B4-BE49-F238E27FC236}">
                <a16:creationId xmlns:a16="http://schemas.microsoft.com/office/drawing/2014/main" id="{7CD6411F-419A-7975-659C-6A002C11BDC9}"/>
              </a:ext>
            </a:extLst>
          </p:cNvPr>
          <p:cNvSpPr>
            <a:spLocks noGrp="1"/>
          </p:cNvSpPr>
          <p:nvPr>
            <p:ph type="sldNum" sz="quarter" idx="4"/>
          </p:nvPr>
        </p:nvSpPr>
        <p:spPr/>
        <p:txBody>
          <a:bodyPr/>
          <a:lstStyle/>
          <a:p>
            <a:fld id="{9860EDB8-5305-433F-BE41-D7A86D811DB3}" type="slidenum">
              <a:rPr lang="en-US" smtClean="0"/>
              <a:pPr/>
              <a:t>12</a:t>
            </a:fld>
            <a:endParaRPr lang="en-US" dirty="0"/>
          </a:p>
        </p:txBody>
      </p:sp>
    </p:spTree>
    <p:extLst>
      <p:ext uri="{BB962C8B-B14F-4D97-AF65-F5344CB8AC3E}">
        <p14:creationId xmlns:p14="http://schemas.microsoft.com/office/powerpoint/2010/main" val="91532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F38F-27B7-DBC3-01F1-A8CC889C3352}"/>
              </a:ext>
            </a:extLst>
          </p:cNvPr>
          <p:cNvSpPr>
            <a:spLocks noGrp="1"/>
          </p:cNvSpPr>
          <p:nvPr>
            <p:ph type="title"/>
          </p:nvPr>
        </p:nvSpPr>
        <p:spPr/>
        <p:txBody>
          <a:bodyPr/>
          <a:lstStyle/>
          <a:p>
            <a:r>
              <a:rPr lang="it-IT" b="1" dirty="0">
                <a:solidFill>
                  <a:srgbClr val="C00000"/>
                </a:solidFill>
              </a:rPr>
              <a:t>5. </a:t>
            </a:r>
            <a:r>
              <a:rPr lang="it-IT" dirty="0"/>
              <a:t>General </a:t>
            </a:r>
            <a:r>
              <a:rPr lang="it-IT" dirty="0" err="1"/>
              <a:t>Consideration</a:t>
            </a:r>
            <a:r>
              <a:rPr lang="it-IT" dirty="0"/>
              <a:t> for the </a:t>
            </a:r>
            <a:r>
              <a:rPr lang="it-IT" dirty="0" err="1"/>
              <a:t>analysis</a:t>
            </a:r>
            <a:endParaRPr lang="en-US" dirty="0"/>
          </a:p>
        </p:txBody>
      </p:sp>
      <p:pic>
        <p:nvPicPr>
          <p:cNvPr id="5" name="Picture 4">
            <a:extLst>
              <a:ext uri="{FF2B5EF4-FFF2-40B4-BE49-F238E27FC236}">
                <a16:creationId xmlns:a16="http://schemas.microsoft.com/office/drawing/2014/main" id="{7641E27F-55B9-E076-989A-2B52C2D4FBD9}"/>
              </a:ext>
            </a:extLst>
          </p:cNvPr>
          <p:cNvPicPr>
            <a:picLocks noChangeAspect="1"/>
          </p:cNvPicPr>
          <p:nvPr/>
        </p:nvPicPr>
        <p:blipFill>
          <a:blip r:embed="rId2"/>
          <a:stretch>
            <a:fillRect/>
          </a:stretch>
        </p:blipFill>
        <p:spPr>
          <a:xfrm>
            <a:off x="518983" y="1285917"/>
            <a:ext cx="7588577" cy="3683641"/>
          </a:xfrm>
          <a:prstGeom prst="rect">
            <a:avLst/>
          </a:prstGeom>
        </p:spPr>
      </p:pic>
      <p:sp>
        <p:nvSpPr>
          <p:cNvPr id="8" name="Rectangle 1">
            <a:extLst>
              <a:ext uri="{FF2B5EF4-FFF2-40B4-BE49-F238E27FC236}">
                <a16:creationId xmlns:a16="http://schemas.microsoft.com/office/drawing/2014/main" id="{CBA0E9B8-F6FA-1847-D13F-98B641123AC6}"/>
              </a:ext>
            </a:extLst>
          </p:cNvPr>
          <p:cNvSpPr>
            <a:spLocks noChangeArrowheads="1"/>
          </p:cNvSpPr>
          <p:nvPr/>
        </p:nvSpPr>
        <p:spPr bwMode="auto">
          <a:xfrm>
            <a:off x="8107560" y="931751"/>
            <a:ext cx="3666518"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rPr>
              <a:t>Considering all products, all customers, and all stores, the overall margin is negative.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rPr>
              <a:t>Starting with a positive margin in 2006, it has shown negative peaks in subsequent years.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rPr>
              <a:t>One of the product that have had the greatest impact is </a:t>
            </a:r>
            <a:r>
              <a:rPr kumimoji="0" lang="en-US" altLang="en-US" sz="1200" b="1" i="0" u="none" strike="noStrike" cap="none" normalizeH="0" baseline="0" dirty="0">
                <a:ln>
                  <a:noFill/>
                </a:ln>
                <a:solidFill>
                  <a:schemeClr val="tx1"/>
                </a:solidFill>
                <a:effectLst/>
              </a:rPr>
              <a:t>ORWPM4</a:t>
            </a:r>
            <a:r>
              <a:rPr kumimoji="0" lang="en-US" altLang="en-US" sz="12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rPr>
              <a:t>Purchased by the majority of distinct customers (popular product)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rPr>
              <a:t>Sold by most stores (</a:t>
            </a:r>
            <a:r>
              <a:rPr lang="en-US" sz="1200" dirty="0"/>
              <a:t>including those with the highest positive total margin</a:t>
            </a:r>
            <a:r>
              <a:rPr kumimoji="0" lang="en-US" altLang="en-US" sz="1200" b="0" i="0" u="none" strike="noStrike" cap="none" normalizeH="0" baseline="0" dirty="0">
                <a:ln>
                  <a:noFill/>
                </a:ln>
                <a:solidFill>
                  <a:schemeClr val="tx1"/>
                </a:solidFill>
                <a:effectLst/>
              </a:rPr>
              <a: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rPr>
              <a:t>Has the most negative margin</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algn="just"/>
            <a:r>
              <a:rPr lang="en-US" sz="1200" dirty="0"/>
              <a:t>In </a:t>
            </a:r>
            <a:r>
              <a:rPr lang="en-US" sz="1200" b="1" dirty="0"/>
              <a:t>contrast</a:t>
            </a:r>
            <a:r>
              <a:rPr lang="en-US" sz="1200" dirty="0"/>
              <a:t>, the products with the highest positive total margin: </a:t>
            </a:r>
          </a:p>
          <a:p>
            <a:pPr marL="285750" indent="-285750" algn="just">
              <a:buFont typeface="Arial" panose="020B0604020202020204" pitchFamily="34" charset="0"/>
              <a:buChar char="•"/>
            </a:pPr>
            <a:r>
              <a:rPr lang="en-US" sz="1200" dirty="0"/>
              <a:t>had sales limited to 2006.</a:t>
            </a:r>
          </a:p>
          <a:p>
            <a:pPr marL="285750" indent="-285750" algn="just">
              <a:buFont typeface="Arial" panose="020B0604020202020204" pitchFamily="34" charset="0"/>
              <a:buChar char="•"/>
            </a:pPr>
            <a:r>
              <a:rPr lang="en-US" sz="1200" dirty="0"/>
              <a:t>showed lower quantities sold compared to other products.</a:t>
            </a:r>
          </a:p>
          <a:p>
            <a:pPr algn="just"/>
            <a:endParaRPr lang="en-US" sz="1200" dirty="0"/>
          </a:p>
          <a:p>
            <a:pPr algn="just"/>
            <a:r>
              <a:rPr lang="en-US" sz="1200" b="1" dirty="0">
                <a:solidFill>
                  <a:schemeClr val="accent1"/>
                </a:solidFill>
              </a:rPr>
              <a:t>In the following slides, the behavior of the products with the highest margins is analyzed to understand how they have influenced the total margin. Subsequently, the product </a:t>
            </a:r>
            <a:r>
              <a:rPr lang="en-US" sz="1200" b="1" dirty="0" err="1">
                <a:solidFill>
                  <a:schemeClr val="accent1"/>
                </a:solidFill>
              </a:rPr>
              <a:t>ORPWM4</a:t>
            </a:r>
            <a:r>
              <a:rPr lang="en-US" sz="1200" b="1" dirty="0">
                <a:solidFill>
                  <a:schemeClr val="accent1"/>
                </a:solidFill>
              </a:rPr>
              <a:t> is analyzed, along with its distribution across stores and the types of customers who purchased it.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0" name="Straight Arrow Connector 9">
            <a:extLst>
              <a:ext uri="{FF2B5EF4-FFF2-40B4-BE49-F238E27FC236}">
                <a16:creationId xmlns:a16="http://schemas.microsoft.com/office/drawing/2014/main" id="{57FD6653-00D1-C701-9633-CF8C4D9B6428}"/>
              </a:ext>
            </a:extLst>
          </p:cNvPr>
          <p:cNvCxnSpPr>
            <a:cxnSpLocks/>
          </p:cNvCxnSpPr>
          <p:nvPr/>
        </p:nvCxnSpPr>
        <p:spPr>
          <a:xfrm flipH="1">
            <a:off x="6947555" y="1088136"/>
            <a:ext cx="450771" cy="7406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4CE9712A-2995-160D-A01E-089D2C5F8E38}"/>
              </a:ext>
            </a:extLst>
          </p:cNvPr>
          <p:cNvCxnSpPr>
            <a:cxnSpLocks/>
          </p:cNvCxnSpPr>
          <p:nvPr/>
        </p:nvCxnSpPr>
        <p:spPr>
          <a:xfrm flipH="1">
            <a:off x="4105229" y="1659118"/>
            <a:ext cx="476198" cy="101504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Oval 12">
            <a:extLst>
              <a:ext uri="{FF2B5EF4-FFF2-40B4-BE49-F238E27FC236}">
                <a16:creationId xmlns:a16="http://schemas.microsoft.com/office/drawing/2014/main" id="{55F10555-2D40-C41C-700A-209E74FB2B37}"/>
              </a:ext>
            </a:extLst>
          </p:cNvPr>
          <p:cNvSpPr/>
          <p:nvPr/>
        </p:nvSpPr>
        <p:spPr>
          <a:xfrm>
            <a:off x="417922" y="3127737"/>
            <a:ext cx="3993822" cy="251891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5" name="Slide Number Placeholder 14">
            <a:extLst>
              <a:ext uri="{FF2B5EF4-FFF2-40B4-BE49-F238E27FC236}">
                <a16:creationId xmlns:a16="http://schemas.microsoft.com/office/drawing/2014/main" id="{73F336A8-2E98-DE18-D80B-55E4AC6AB4D0}"/>
              </a:ext>
            </a:extLst>
          </p:cNvPr>
          <p:cNvSpPr>
            <a:spLocks noGrp="1"/>
          </p:cNvSpPr>
          <p:nvPr>
            <p:ph type="sldNum" sz="quarter" idx="4"/>
          </p:nvPr>
        </p:nvSpPr>
        <p:spPr/>
        <p:txBody>
          <a:bodyPr/>
          <a:lstStyle/>
          <a:p>
            <a:fld id="{9860EDB8-5305-433F-BE41-D7A86D811DB3}" type="slidenum">
              <a:rPr lang="en-US" smtClean="0"/>
              <a:pPr/>
              <a:t>13</a:t>
            </a:fld>
            <a:endParaRPr lang="en-US" dirty="0"/>
          </a:p>
        </p:txBody>
      </p:sp>
    </p:spTree>
    <p:extLst>
      <p:ext uri="{BB962C8B-B14F-4D97-AF65-F5344CB8AC3E}">
        <p14:creationId xmlns:p14="http://schemas.microsoft.com/office/powerpoint/2010/main" val="384905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98C8F-EF7A-B57A-8CE6-1D8AE03D3F46}"/>
              </a:ext>
            </a:extLst>
          </p:cNvPr>
          <p:cNvSpPr>
            <a:spLocks noGrp="1"/>
          </p:cNvSpPr>
          <p:nvPr>
            <p:ph type="title"/>
          </p:nvPr>
        </p:nvSpPr>
        <p:spPr>
          <a:xfrm>
            <a:off x="521207" y="448056"/>
            <a:ext cx="9933119" cy="640080"/>
          </a:xfrm>
        </p:spPr>
        <p:txBody>
          <a:bodyPr>
            <a:normAutofit/>
          </a:bodyPr>
          <a:lstStyle/>
          <a:p>
            <a:r>
              <a:rPr lang="it-IT" b="1" dirty="0">
                <a:solidFill>
                  <a:srgbClr val="C00000"/>
                </a:solidFill>
              </a:rPr>
              <a:t>5. </a:t>
            </a:r>
            <a:r>
              <a:rPr lang="en-US" dirty="0"/>
              <a:t>Analysis of Products with the Highest Positive Margin</a:t>
            </a:r>
          </a:p>
        </p:txBody>
      </p:sp>
      <p:sp>
        <p:nvSpPr>
          <p:cNvPr id="15" name="TextBox 14">
            <a:extLst>
              <a:ext uri="{FF2B5EF4-FFF2-40B4-BE49-F238E27FC236}">
                <a16:creationId xmlns:a16="http://schemas.microsoft.com/office/drawing/2014/main" id="{E34E3D19-1C07-96F7-1690-2AC19D306127}"/>
              </a:ext>
            </a:extLst>
          </p:cNvPr>
          <p:cNvSpPr txBox="1"/>
          <p:nvPr/>
        </p:nvSpPr>
        <p:spPr>
          <a:xfrm>
            <a:off x="9005623" y="1736296"/>
            <a:ext cx="2771481" cy="4616648"/>
          </a:xfrm>
          <a:prstGeom prst="rect">
            <a:avLst/>
          </a:prstGeom>
          <a:noFill/>
        </p:spPr>
        <p:txBody>
          <a:bodyPr wrap="square">
            <a:spAutoFit/>
          </a:bodyPr>
          <a:lstStyle/>
          <a:p>
            <a:pPr algn="just"/>
            <a:r>
              <a:rPr lang="en-US" sz="1400" dirty="0"/>
              <a:t>The two products with the highest Total Margin behave similarly:</a:t>
            </a:r>
          </a:p>
          <a:p>
            <a:pPr algn="just"/>
            <a:endParaRPr lang="en-US" sz="1400" dirty="0"/>
          </a:p>
          <a:p>
            <a:pPr algn="just"/>
            <a:r>
              <a:rPr lang="en-US" sz="1400" b="1" dirty="0" err="1">
                <a:solidFill>
                  <a:srgbClr val="FF0000"/>
                </a:solidFill>
              </a:rPr>
              <a:t>1.</a:t>
            </a:r>
            <a:r>
              <a:rPr lang="en-US" sz="1400" dirty="0" err="1"/>
              <a:t>After</a:t>
            </a:r>
            <a:r>
              <a:rPr lang="en-US" sz="1400" dirty="0"/>
              <a:t> August/September 2006  they are no longer sold. </a:t>
            </a:r>
          </a:p>
          <a:p>
            <a:pPr algn="just"/>
            <a:r>
              <a:rPr lang="en-US" sz="1400" b="1" dirty="0" err="1">
                <a:solidFill>
                  <a:srgbClr val="FF0000"/>
                </a:solidFill>
              </a:rPr>
              <a:t>2.</a:t>
            </a:r>
            <a:r>
              <a:rPr lang="en-US" sz="1400" dirty="0" err="1"/>
              <a:t>In</a:t>
            </a:r>
            <a:r>
              <a:rPr lang="en-US" sz="1400" dirty="0"/>
              <a:t> late evening 20:00/21:00, the margin becomes negative</a:t>
            </a:r>
          </a:p>
          <a:p>
            <a:pPr algn="just"/>
            <a:r>
              <a:rPr lang="en-US" sz="1400" b="1" dirty="0">
                <a:solidFill>
                  <a:srgbClr val="FF0000"/>
                </a:solidFill>
              </a:rPr>
              <a:t>3.</a:t>
            </a:r>
            <a:r>
              <a:rPr lang="en-US" sz="1400" dirty="0"/>
              <a:t>The quantities sold are significantly lower compared to the other products.</a:t>
            </a:r>
          </a:p>
          <a:p>
            <a:pPr algn="just"/>
            <a:r>
              <a:rPr lang="en-US" sz="1400" b="1" dirty="0" err="1">
                <a:solidFill>
                  <a:srgbClr val="FF0000"/>
                </a:solidFill>
              </a:rPr>
              <a:t>4.</a:t>
            </a:r>
            <a:r>
              <a:rPr lang="en-US" sz="1400" dirty="0" err="1"/>
              <a:t>The</a:t>
            </a:r>
            <a:r>
              <a:rPr lang="en-US" sz="1400" dirty="0"/>
              <a:t> margin decreases over time until it becomes negative</a:t>
            </a:r>
          </a:p>
          <a:p>
            <a:pPr algn="just"/>
            <a:r>
              <a:rPr lang="en-US" sz="1400" b="1" dirty="0" err="1">
                <a:solidFill>
                  <a:srgbClr val="FF0000"/>
                </a:solidFill>
              </a:rPr>
              <a:t>5.</a:t>
            </a:r>
            <a:r>
              <a:rPr lang="en-US" sz="1400" dirty="0" err="1"/>
              <a:t>They</a:t>
            </a:r>
            <a:r>
              <a:rPr lang="en-US" sz="1400" dirty="0"/>
              <a:t> have a high weighted margin per unit-&gt; probably the reason why are in the top 5 by Total Margin</a:t>
            </a:r>
          </a:p>
          <a:p>
            <a:pPr algn="just"/>
            <a:endParaRPr lang="en-US" sz="1400" dirty="0"/>
          </a:p>
          <a:p>
            <a:pPr algn="just"/>
            <a:r>
              <a:rPr lang="en-US" sz="1400" dirty="0">
                <a:solidFill>
                  <a:schemeClr val="accent5"/>
                </a:solidFill>
              </a:rPr>
              <a:t>The product with the </a:t>
            </a:r>
            <a:r>
              <a:rPr lang="en-US" sz="1400" b="1" dirty="0">
                <a:solidFill>
                  <a:schemeClr val="accent5"/>
                </a:solidFill>
              </a:rPr>
              <a:t>second </a:t>
            </a:r>
            <a:r>
              <a:rPr lang="en-US" sz="1400" dirty="0">
                <a:solidFill>
                  <a:schemeClr val="accent5"/>
                </a:solidFill>
              </a:rPr>
              <a:t>highest total margin is in the next slide</a:t>
            </a:r>
          </a:p>
        </p:txBody>
      </p:sp>
      <p:pic>
        <p:nvPicPr>
          <p:cNvPr id="17" name="Picture 16">
            <a:extLst>
              <a:ext uri="{FF2B5EF4-FFF2-40B4-BE49-F238E27FC236}">
                <a16:creationId xmlns:a16="http://schemas.microsoft.com/office/drawing/2014/main" id="{7DB84421-55D6-2AC3-580B-881F0024A6E8}"/>
              </a:ext>
            </a:extLst>
          </p:cNvPr>
          <p:cNvPicPr>
            <a:picLocks noChangeAspect="1"/>
          </p:cNvPicPr>
          <p:nvPr/>
        </p:nvPicPr>
        <p:blipFill>
          <a:blip r:embed="rId2"/>
          <a:stretch>
            <a:fillRect/>
          </a:stretch>
        </p:blipFill>
        <p:spPr>
          <a:xfrm>
            <a:off x="521207" y="1736296"/>
            <a:ext cx="8380312" cy="4061189"/>
          </a:xfrm>
          <a:prstGeom prst="rect">
            <a:avLst/>
          </a:prstGeom>
        </p:spPr>
      </p:pic>
      <p:sp>
        <p:nvSpPr>
          <p:cNvPr id="18" name="Oval 17">
            <a:extLst>
              <a:ext uri="{FF2B5EF4-FFF2-40B4-BE49-F238E27FC236}">
                <a16:creationId xmlns:a16="http://schemas.microsoft.com/office/drawing/2014/main" id="{94404B8B-2626-BD8C-9A08-25582572D968}"/>
              </a:ext>
            </a:extLst>
          </p:cNvPr>
          <p:cNvSpPr/>
          <p:nvPr/>
        </p:nvSpPr>
        <p:spPr>
          <a:xfrm>
            <a:off x="2638067" y="5097006"/>
            <a:ext cx="2073296" cy="10061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9" name="Oval 18">
            <a:extLst>
              <a:ext uri="{FF2B5EF4-FFF2-40B4-BE49-F238E27FC236}">
                <a16:creationId xmlns:a16="http://schemas.microsoft.com/office/drawing/2014/main" id="{F0B9F73F-0333-3A0D-33DE-F4775BF292F5}"/>
              </a:ext>
            </a:extLst>
          </p:cNvPr>
          <p:cNvSpPr/>
          <p:nvPr/>
        </p:nvSpPr>
        <p:spPr>
          <a:xfrm>
            <a:off x="6730871" y="5275726"/>
            <a:ext cx="2073296" cy="10061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1" name="Arrow: Down 20">
            <a:extLst>
              <a:ext uri="{FF2B5EF4-FFF2-40B4-BE49-F238E27FC236}">
                <a16:creationId xmlns:a16="http://schemas.microsoft.com/office/drawing/2014/main" id="{CF117552-75F7-2B67-CC6B-75E4CE1B86EC}"/>
              </a:ext>
            </a:extLst>
          </p:cNvPr>
          <p:cNvSpPr/>
          <p:nvPr/>
        </p:nvSpPr>
        <p:spPr>
          <a:xfrm>
            <a:off x="10136839" y="6192689"/>
            <a:ext cx="509048" cy="5050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668BE3AF-3C9B-7821-9360-2535E087A22E}"/>
              </a:ext>
            </a:extLst>
          </p:cNvPr>
          <p:cNvCxnSpPr>
            <a:cxnSpLocks/>
          </p:cNvCxnSpPr>
          <p:nvPr/>
        </p:nvCxnSpPr>
        <p:spPr>
          <a:xfrm>
            <a:off x="414896" y="3289955"/>
            <a:ext cx="1715562" cy="40535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5" name="Oval 24">
            <a:extLst>
              <a:ext uri="{FF2B5EF4-FFF2-40B4-BE49-F238E27FC236}">
                <a16:creationId xmlns:a16="http://schemas.microsoft.com/office/drawing/2014/main" id="{2CAB7601-3F89-57CE-A0BC-B5A3A89FD21D}"/>
              </a:ext>
            </a:extLst>
          </p:cNvPr>
          <p:cNvSpPr/>
          <p:nvPr/>
        </p:nvSpPr>
        <p:spPr>
          <a:xfrm>
            <a:off x="1956264" y="3827283"/>
            <a:ext cx="485278" cy="16566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6" name="Slide Number Placeholder 25">
            <a:extLst>
              <a:ext uri="{FF2B5EF4-FFF2-40B4-BE49-F238E27FC236}">
                <a16:creationId xmlns:a16="http://schemas.microsoft.com/office/drawing/2014/main" id="{0329621B-2CDE-E175-38D1-0C4E1641FC69}"/>
              </a:ext>
            </a:extLst>
          </p:cNvPr>
          <p:cNvSpPr>
            <a:spLocks noGrp="1"/>
          </p:cNvSpPr>
          <p:nvPr>
            <p:ph type="sldNum" sz="quarter" idx="4"/>
          </p:nvPr>
        </p:nvSpPr>
        <p:spPr/>
        <p:txBody>
          <a:bodyPr/>
          <a:lstStyle/>
          <a:p>
            <a:fld id="{9860EDB8-5305-433F-BE41-D7A86D811DB3}" type="slidenum">
              <a:rPr lang="en-US" smtClean="0"/>
              <a:pPr/>
              <a:t>14</a:t>
            </a:fld>
            <a:endParaRPr lang="en-US" dirty="0"/>
          </a:p>
        </p:txBody>
      </p:sp>
    </p:spTree>
    <p:extLst>
      <p:ext uri="{BB962C8B-B14F-4D97-AF65-F5344CB8AC3E}">
        <p14:creationId xmlns:p14="http://schemas.microsoft.com/office/powerpoint/2010/main" val="1572737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C21790-2B3F-8DC6-6A0C-7687B0D73BCA}"/>
              </a:ext>
            </a:extLst>
          </p:cNvPr>
          <p:cNvPicPr>
            <a:picLocks noChangeAspect="1"/>
          </p:cNvPicPr>
          <p:nvPr/>
        </p:nvPicPr>
        <p:blipFill>
          <a:blip r:embed="rId2"/>
          <a:stretch>
            <a:fillRect/>
          </a:stretch>
        </p:blipFill>
        <p:spPr>
          <a:xfrm>
            <a:off x="942680" y="1432586"/>
            <a:ext cx="9822730" cy="4801698"/>
          </a:xfrm>
          <a:prstGeom prst="rect">
            <a:avLst/>
          </a:prstGeom>
        </p:spPr>
      </p:pic>
      <p:sp>
        <p:nvSpPr>
          <p:cNvPr id="6" name="Oval 5">
            <a:extLst>
              <a:ext uri="{FF2B5EF4-FFF2-40B4-BE49-F238E27FC236}">
                <a16:creationId xmlns:a16="http://schemas.microsoft.com/office/drawing/2014/main" id="{F4FC0A2D-E284-532C-2596-67C5FD272B3E}"/>
              </a:ext>
            </a:extLst>
          </p:cNvPr>
          <p:cNvSpPr/>
          <p:nvPr/>
        </p:nvSpPr>
        <p:spPr>
          <a:xfrm>
            <a:off x="3316796" y="5215777"/>
            <a:ext cx="2073296" cy="10061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Oval 6">
            <a:extLst>
              <a:ext uri="{FF2B5EF4-FFF2-40B4-BE49-F238E27FC236}">
                <a16:creationId xmlns:a16="http://schemas.microsoft.com/office/drawing/2014/main" id="{6F4C49BF-A387-FAFB-270F-DCA9C7075AC0}"/>
              </a:ext>
            </a:extLst>
          </p:cNvPr>
          <p:cNvSpPr/>
          <p:nvPr/>
        </p:nvSpPr>
        <p:spPr>
          <a:xfrm>
            <a:off x="8350710" y="5294969"/>
            <a:ext cx="2073296" cy="10061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0" name="Title 1">
            <a:extLst>
              <a:ext uri="{FF2B5EF4-FFF2-40B4-BE49-F238E27FC236}">
                <a16:creationId xmlns:a16="http://schemas.microsoft.com/office/drawing/2014/main" id="{E098AD4C-8BB7-07B8-28D1-586435C209DE}"/>
              </a:ext>
            </a:extLst>
          </p:cNvPr>
          <p:cNvSpPr>
            <a:spLocks noGrp="1"/>
          </p:cNvSpPr>
          <p:nvPr>
            <p:ph type="title"/>
          </p:nvPr>
        </p:nvSpPr>
        <p:spPr>
          <a:xfrm>
            <a:off x="521207" y="448056"/>
            <a:ext cx="8801902" cy="640080"/>
          </a:xfrm>
        </p:spPr>
        <p:txBody>
          <a:bodyPr>
            <a:normAutofit/>
          </a:bodyPr>
          <a:lstStyle/>
          <a:p>
            <a:r>
              <a:rPr lang="it-IT" b="1" dirty="0">
                <a:solidFill>
                  <a:srgbClr val="C00000"/>
                </a:solidFill>
              </a:rPr>
              <a:t>5. </a:t>
            </a:r>
            <a:r>
              <a:rPr lang="en-US" dirty="0"/>
              <a:t>Analysis of Products with the Highest Positive Margin</a:t>
            </a:r>
          </a:p>
        </p:txBody>
      </p:sp>
      <p:sp>
        <p:nvSpPr>
          <p:cNvPr id="11" name="Slide Number Placeholder 10">
            <a:extLst>
              <a:ext uri="{FF2B5EF4-FFF2-40B4-BE49-F238E27FC236}">
                <a16:creationId xmlns:a16="http://schemas.microsoft.com/office/drawing/2014/main" id="{FCCA9611-CEE1-9950-CCC3-2D6C80ECE70D}"/>
              </a:ext>
            </a:extLst>
          </p:cNvPr>
          <p:cNvSpPr>
            <a:spLocks noGrp="1"/>
          </p:cNvSpPr>
          <p:nvPr>
            <p:ph type="sldNum" sz="quarter" idx="4"/>
          </p:nvPr>
        </p:nvSpPr>
        <p:spPr/>
        <p:txBody>
          <a:bodyPr/>
          <a:lstStyle/>
          <a:p>
            <a:fld id="{9860EDB8-5305-433F-BE41-D7A86D811DB3}" type="slidenum">
              <a:rPr lang="en-US" smtClean="0"/>
              <a:pPr/>
              <a:t>15</a:t>
            </a:fld>
            <a:endParaRPr lang="en-US" dirty="0"/>
          </a:p>
        </p:txBody>
      </p:sp>
    </p:spTree>
    <p:extLst>
      <p:ext uri="{BB962C8B-B14F-4D97-AF65-F5344CB8AC3E}">
        <p14:creationId xmlns:p14="http://schemas.microsoft.com/office/powerpoint/2010/main" val="2588202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40B92-3B75-63CE-A706-4B9016721D12}"/>
              </a:ext>
            </a:extLst>
          </p:cNvPr>
          <p:cNvSpPr>
            <a:spLocks noGrp="1"/>
          </p:cNvSpPr>
          <p:nvPr>
            <p:ph type="title"/>
          </p:nvPr>
        </p:nvSpPr>
        <p:spPr>
          <a:xfrm>
            <a:off x="521207" y="448056"/>
            <a:ext cx="9622034" cy="640080"/>
          </a:xfrm>
        </p:spPr>
        <p:txBody>
          <a:bodyPr>
            <a:noAutofit/>
          </a:bodyPr>
          <a:lstStyle/>
          <a:p>
            <a:r>
              <a:rPr lang="it-IT" b="1" dirty="0">
                <a:solidFill>
                  <a:srgbClr val="C00000"/>
                </a:solidFill>
              </a:rPr>
              <a:t>5. </a:t>
            </a:r>
            <a:r>
              <a:rPr lang="en-US" dirty="0"/>
              <a:t>Analysis of the Most Popular Products Among Customers</a:t>
            </a:r>
          </a:p>
        </p:txBody>
      </p:sp>
      <p:pic>
        <p:nvPicPr>
          <p:cNvPr id="5" name="Picture 4">
            <a:extLst>
              <a:ext uri="{FF2B5EF4-FFF2-40B4-BE49-F238E27FC236}">
                <a16:creationId xmlns:a16="http://schemas.microsoft.com/office/drawing/2014/main" id="{0F79690F-2A3B-B2A2-77A9-167236A86FA8}"/>
              </a:ext>
            </a:extLst>
          </p:cNvPr>
          <p:cNvPicPr>
            <a:picLocks noChangeAspect="1"/>
          </p:cNvPicPr>
          <p:nvPr/>
        </p:nvPicPr>
        <p:blipFill>
          <a:blip r:embed="rId2"/>
          <a:stretch>
            <a:fillRect/>
          </a:stretch>
        </p:blipFill>
        <p:spPr>
          <a:xfrm>
            <a:off x="697584" y="1554795"/>
            <a:ext cx="8908469" cy="4346384"/>
          </a:xfrm>
          <a:prstGeom prst="rect">
            <a:avLst/>
          </a:prstGeom>
        </p:spPr>
      </p:pic>
      <p:sp>
        <p:nvSpPr>
          <p:cNvPr id="6" name="TextBox 5">
            <a:extLst>
              <a:ext uri="{FF2B5EF4-FFF2-40B4-BE49-F238E27FC236}">
                <a16:creationId xmlns:a16="http://schemas.microsoft.com/office/drawing/2014/main" id="{18BBBF42-F0C9-034B-4582-6BCDA0D99E9E}"/>
              </a:ext>
            </a:extLst>
          </p:cNvPr>
          <p:cNvSpPr txBox="1"/>
          <p:nvPr/>
        </p:nvSpPr>
        <p:spPr>
          <a:xfrm>
            <a:off x="9693112" y="1554795"/>
            <a:ext cx="2071540" cy="3323987"/>
          </a:xfrm>
          <a:prstGeom prst="rect">
            <a:avLst/>
          </a:prstGeom>
          <a:noFill/>
        </p:spPr>
        <p:txBody>
          <a:bodyPr wrap="square">
            <a:spAutoFit/>
          </a:bodyPr>
          <a:lstStyle/>
          <a:p>
            <a:pPr algn="just"/>
            <a:r>
              <a:rPr lang="en-US" sz="1400" dirty="0"/>
              <a:t>Between the most popular products there are products with zero margin but with quantities sold, which means that even though these products are not generating profit, they are still being sold in some quantity.</a:t>
            </a:r>
          </a:p>
          <a:p>
            <a:pPr algn="just"/>
            <a:endParaRPr lang="en-US" sz="1400" dirty="0"/>
          </a:p>
          <a:p>
            <a:pPr algn="just"/>
            <a:r>
              <a:rPr lang="en-US" sz="1400" dirty="0">
                <a:solidFill>
                  <a:schemeClr val="accent5"/>
                </a:solidFill>
              </a:rPr>
              <a:t>Other Example in the next slide</a:t>
            </a:r>
          </a:p>
          <a:p>
            <a:pPr algn="just"/>
            <a:endParaRPr lang="en-US" sz="1400" dirty="0"/>
          </a:p>
        </p:txBody>
      </p:sp>
      <p:sp>
        <p:nvSpPr>
          <p:cNvPr id="7" name="Oval 6">
            <a:extLst>
              <a:ext uri="{FF2B5EF4-FFF2-40B4-BE49-F238E27FC236}">
                <a16:creationId xmlns:a16="http://schemas.microsoft.com/office/drawing/2014/main" id="{EB53962A-A5DA-0D09-CFAF-3C42C1E1D886}"/>
              </a:ext>
            </a:extLst>
          </p:cNvPr>
          <p:cNvSpPr/>
          <p:nvPr/>
        </p:nvSpPr>
        <p:spPr>
          <a:xfrm>
            <a:off x="1549299" y="4447895"/>
            <a:ext cx="2890726" cy="153812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C078AB49-D37B-5DA2-26BA-56B7CA68A310}"/>
              </a:ext>
            </a:extLst>
          </p:cNvPr>
          <p:cNvSpPr txBox="1"/>
          <p:nvPr/>
        </p:nvSpPr>
        <p:spPr>
          <a:xfrm>
            <a:off x="2058972" y="5998506"/>
            <a:ext cx="2071540" cy="738664"/>
          </a:xfrm>
          <a:prstGeom prst="rect">
            <a:avLst/>
          </a:prstGeom>
          <a:noFill/>
        </p:spPr>
        <p:txBody>
          <a:bodyPr wrap="square">
            <a:spAutoFit/>
          </a:bodyPr>
          <a:lstStyle/>
          <a:p>
            <a:pPr marL="285750" indent="-285750">
              <a:buFont typeface="Arial" panose="020B0604020202020204" pitchFamily="34" charset="0"/>
              <a:buChar char="•"/>
            </a:pPr>
            <a:r>
              <a:rPr lang="en-US" sz="1400" b="1" dirty="0"/>
              <a:t>Quantity positive</a:t>
            </a:r>
          </a:p>
          <a:p>
            <a:pPr marL="285750" indent="-285750">
              <a:buFont typeface="Arial" panose="020B0604020202020204" pitchFamily="34" charset="0"/>
              <a:buChar char="•"/>
            </a:pPr>
            <a:r>
              <a:rPr lang="en-US" sz="1400" b="1" dirty="0"/>
              <a:t>Margin 0</a:t>
            </a:r>
          </a:p>
          <a:p>
            <a:endParaRPr lang="en-US" sz="1400" dirty="0"/>
          </a:p>
        </p:txBody>
      </p:sp>
      <p:sp>
        <p:nvSpPr>
          <p:cNvPr id="9" name="Arrow: Down 8">
            <a:extLst>
              <a:ext uri="{FF2B5EF4-FFF2-40B4-BE49-F238E27FC236}">
                <a16:creationId xmlns:a16="http://schemas.microsoft.com/office/drawing/2014/main" id="{4615E387-891E-C140-C65B-2570B35DC8E1}"/>
              </a:ext>
            </a:extLst>
          </p:cNvPr>
          <p:cNvSpPr/>
          <p:nvPr/>
        </p:nvSpPr>
        <p:spPr>
          <a:xfrm>
            <a:off x="10388177" y="4868166"/>
            <a:ext cx="509048" cy="697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E5CCAB90-992E-7B7F-B290-B58BE20BECF4}"/>
              </a:ext>
            </a:extLst>
          </p:cNvPr>
          <p:cNvSpPr>
            <a:spLocks noGrp="1"/>
          </p:cNvSpPr>
          <p:nvPr>
            <p:ph type="sldNum" sz="quarter" idx="4"/>
          </p:nvPr>
        </p:nvSpPr>
        <p:spPr/>
        <p:txBody>
          <a:bodyPr/>
          <a:lstStyle/>
          <a:p>
            <a:fld id="{9860EDB8-5305-433F-BE41-D7A86D811DB3}" type="slidenum">
              <a:rPr lang="en-US" smtClean="0"/>
              <a:pPr/>
              <a:t>16</a:t>
            </a:fld>
            <a:endParaRPr lang="en-US" dirty="0"/>
          </a:p>
        </p:txBody>
      </p:sp>
    </p:spTree>
    <p:extLst>
      <p:ext uri="{BB962C8B-B14F-4D97-AF65-F5344CB8AC3E}">
        <p14:creationId xmlns:p14="http://schemas.microsoft.com/office/powerpoint/2010/main" val="3251925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1DF15C-3066-DCAC-9C2E-0A516FD27C08}"/>
              </a:ext>
            </a:extLst>
          </p:cNvPr>
          <p:cNvPicPr>
            <a:picLocks noChangeAspect="1"/>
          </p:cNvPicPr>
          <p:nvPr/>
        </p:nvPicPr>
        <p:blipFill>
          <a:blip r:embed="rId2"/>
          <a:stretch>
            <a:fillRect/>
          </a:stretch>
        </p:blipFill>
        <p:spPr>
          <a:xfrm>
            <a:off x="521207" y="1344720"/>
            <a:ext cx="9735156" cy="4711509"/>
          </a:xfrm>
          <a:prstGeom prst="rect">
            <a:avLst/>
          </a:prstGeom>
        </p:spPr>
      </p:pic>
      <p:sp>
        <p:nvSpPr>
          <p:cNvPr id="8" name="TextBox 7">
            <a:extLst>
              <a:ext uri="{FF2B5EF4-FFF2-40B4-BE49-F238E27FC236}">
                <a16:creationId xmlns:a16="http://schemas.microsoft.com/office/drawing/2014/main" id="{28D8CB77-978A-6810-B0A7-7E46E498E7B8}"/>
              </a:ext>
            </a:extLst>
          </p:cNvPr>
          <p:cNvSpPr txBox="1"/>
          <p:nvPr/>
        </p:nvSpPr>
        <p:spPr>
          <a:xfrm>
            <a:off x="2049545" y="6056229"/>
            <a:ext cx="2071540" cy="738664"/>
          </a:xfrm>
          <a:prstGeom prst="rect">
            <a:avLst/>
          </a:prstGeom>
          <a:noFill/>
        </p:spPr>
        <p:txBody>
          <a:bodyPr wrap="square">
            <a:spAutoFit/>
          </a:bodyPr>
          <a:lstStyle/>
          <a:p>
            <a:pPr marL="285750" indent="-285750">
              <a:buFont typeface="Arial" panose="020B0604020202020204" pitchFamily="34" charset="0"/>
              <a:buChar char="•"/>
            </a:pPr>
            <a:r>
              <a:rPr lang="en-US" sz="1400" b="1" dirty="0"/>
              <a:t>Quantity positive</a:t>
            </a:r>
          </a:p>
          <a:p>
            <a:pPr marL="285750" indent="-285750">
              <a:buFont typeface="Arial" panose="020B0604020202020204" pitchFamily="34" charset="0"/>
              <a:buChar char="•"/>
            </a:pPr>
            <a:r>
              <a:rPr lang="en-US" sz="1400" b="1" dirty="0"/>
              <a:t>Margin 0</a:t>
            </a:r>
          </a:p>
          <a:p>
            <a:endParaRPr lang="en-US" sz="1400" dirty="0"/>
          </a:p>
        </p:txBody>
      </p:sp>
      <p:sp>
        <p:nvSpPr>
          <p:cNvPr id="9" name="Oval 8">
            <a:extLst>
              <a:ext uri="{FF2B5EF4-FFF2-40B4-BE49-F238E27FC236}">
                <a16:creationId xmlns:a16="http://schemas.microsoft.com/office/drawing/2014/main" id="{81DFA30D-6949-A826-F4FC-3854F6C0E56D}"/>
              </a:ext>
            </a:extLst>
          </p:cNvPr>
          <p:cNvSpPr/>
          <p:nvPr/>
        </p:nvSpPr>
        <p:spPr>
          <a:xfrm>
            <a:off x="1549299" y="4447895"/>
            <a:ext cx="2890726" cy="153812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4" name="Title 1">
            <a:extLst>
              <a:ext uri="{FF2B5EF4-FFF2-40B4-BE49-F238E27FC236}">
                <a16:creationId xmlns:a16="http://schemas.microsoft.com/office/drawing/2014/main" id="{D296DCE0-BCDB-DC9D-3984-BCE2A7279EEC}"/>
              </a:ext>
            </a:extLst>
          </p:cNvPr>
          <p:cNvSpPr>
            <a:spLocks noGrp="1"/>
          </p:cNvSpPr>
          <p:nvPr>
            <p:ph type="title"/>
          </p:nvPr>
        </p:nvSpPr>
        <p:spPr>
          <a:xfrm>
            <a:off x="521206" y="448056"/>
            <a:ext cx="10149935" cy="640080"/>
          </a:xfrm>
        </p:spPr>
        <p:txBody>
          <a:bodyPr>
            <a:noAutofit/>
          </a:bodyPr>
          <a:lstStyle/>
          <a:p>
            <a:r>
              <a:rPr lang="it-IT" b="1" dirty="0">
                <a:solidFill>
                  <a:srgbClr val="C00000"/>
                </a:solidFill>
              </a:rPr>
              <a:t>5. </a:t>
            </a:r>
            <a:r>
              <a:rPr lang="en-US" dirty="0"/>
              <a:t>Analysis of the Most Popular Products Among Customers</a:t>
            </a:r>
          </a:p>
        </p:txBody>
      </p:sp>
      <p:sp>
        <p:nvSpPr>
          <p:cNvPr id="15" name="Slide Number Placeholder 14">
            <a:extLst>
              <a:ext uri="{FF2B5EF4-FFF2-40B4-BE49-F238E27FC236}">
                <a16:creationId xmlns:a16="http://schemas.microsoft.com/office/drawing/2014/main" id="{77707839-2978-6E9E-09C2-66332B3D6B7C}"/>
              </a:ext>
            </a:extLst>
          </p:cNvPr>
          <p:cNvSpPr>
            <a:spLocks noGrp="1"/>
          </p:cNvSpPr>
          <p:nvPr>
            <p:ph type="sldNum" sz="quarter" idx="4"/>
          </p:nvPr>
        </p:nvSpPr>
        <p:spPr/>
        <p:txBody>
          <a:bodyPr/>
          <a:lstStyle/>
          <a:p>
            <a:fld id="{9860EDB8-5305-433F-BE41-D7A86D811DB3}" type="slidenum">
              <a:rPr lang="en-US" smtClean="0"/>
              <a:pPr/>
              <a:t>17</a:t>
            </a:fld>
            <a:endParaRPr lang="en-US" dirty="0"/>
          </a:p>
        </p:txBody>
      </p:sp>
    </p:spTree>
    <p:extLst>
      <p:ext uri="{BB962C8B-B14F-4D97-AF65-F5344CB8AC3E}">
        <p14:creationId xmlns:p14="http://schemas.microsoft.com/office/powerpoint/2010/main" val="3618650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0F984-5D67-0D58-0426-050226AA2A6D}"/>
              </a:ext>
            </a:extLst>
          </p:cNvPr>
          <p:cNvSpPr>
            <a:spLocks noGrp="1"/>
          </p:cNvSpPr>
          <p:nvPr>
            <p:ph type="title"/>
          </p:nvPr>
        </p:nvSpPr>
        <p:spPr>
          <a:xfrm>
            <a:off x="521207" y="448056"/>
            <a:ext cx="11535675" cy="640080"/>
          </a:xfrm>
        </p:spPr>
        <p:txBody>
          <a:bodyPr>
            <a:normAutofit/>
          </a:bodyPr>
          <a:lstStyle/>
          <a:p>
            <a:r>
              <a:rPr lang="it-IT" b="1" dirty="0">
                <a:solidFill>
                  <a:srgbClr val="C00000"/>
                </a:solidFill>
              </a:rPr>
              <a:t>5. </a:t>
            </a:r>
            <a:r>
              <a:rPr lang="en-US" dirty="0"/>
              <a:t>Store Analysis: Identifying the Product Behind Margin Reduction</a:t>
            </a:r>
          </a:p>
        </p:txBody>
      </p:sp>
      <p:pic>
        <p:nvPicPr>
          <p:cNvPr id="4" name="Picture 3">
            <a:extLst>
              <a:ext uri="{FF2B5EF4-FFF2-40B4-BE49-F238E27FC236}">
                <a16:creationId xmlns:a16="http://schemas.microsoft.com/office/drawing/2014/main" id="{3CE5D8E0-59BE-A146-CED0-E6EFFBC0E418}"/>
              </a:ext>
            </a:extLst>
          </p:cNvPr>
          <p:cNvPicPr>
            <a:picLocks noChangeAspect="1"/>
          </p:cNvPicPr>
          <p:nvPr/>
        </p:nvPicPr>
        <p:blipFill>
          <a:blip r:embed="rId2"/>
          <a:stretch>
            <a:fillRect/>
          </a:stretch>
        </p:blipFill>
        <p:spPr>
          <a:xfrm>
            <a:off x="455219" y="1291330"/>
            <a:ext cx="7992707" cy="3855704"/>
          </a:xfrm>
          <a:prstGeom prst="rect">
            <a:avLst/>
          </a:prstGeom>
        </p:spPr>
      </p:pic>
      <p:pic>
        <p:nvPicPr>
          <p:cNvPr id="10" name="Picture 9">
            <a:extLst>
              <a:ext uri="{FF2B5EF4-FFF2-40B4-BE49-F238E27FC236}">
                <a16:creationId xmlns:a16="http://schemas.microsoft.com/office/drawing/2014/main" id="{2D73DED6-8D3D-A382-96BE-BD8CD0B37DE2}"/>
              </a:ext>
            </a:extLst>
          </p:cNvPr>
          <p:cNvPicPr>
            <a:picLocks noChangeAspect="1"/>
          </p:cNvPicPr>
          <p:nvPr/>
        </p:nvPicPr>
        <p:blipFill>
          <a:blip r:embed="rId3"/>
          <a:stretch>
            <a:fillRect/>
          </a:stretch>
        </p:blipFill>
        <p:spPr>
          <a:xfrm>
            <a:off x="3297335" y="5471498"/>
            <a:ext cx="2308473" cy="1080036"/>
          </a:xfrm>
          <a:prstGeom prst="rect">
            <a:avLst/>
          </a:prstGeom>
        </p:spPr>
      </p:pic>
      <p:sp>
        <p:nvSpPr>
          <p:cNvPr id="12" name="TextBox 11">
            <a:extLst>
              <a:ext uri="{FF2B5EF4-FFF2-40B4-BE49-F238E27FC236}">
                <a16:creationId xmlns:a16="http://schemas.microsoft.com/office/drawing/2014/main" id="{06FC7C0A-65A4-AFA7-56C3-F7D45D668242}"/>
              </a:ext>
            </a:extLst>
          </p:cNvPr>
          <p:cNvSpPr txBox="1"/>
          <p:nvPr/>
        </p:nvSpPr>
        <p:spPr>
          <a:xfrm>
            <a:off x="0" y="2537006"/>
            <a:ext cx="1948991" cy="615553"/>
          </a:xfrm>
          <a:prstGeom prst="rect">
            <a:avLst/>
          </a:prstGeom>
          <a:noFill/>
        </p:spPr>
        <p:txBody>
          <a:bodyPr wrap="square">
            <a:spAutoFit/>
          </a:bodyPr>
          <a:lstStyle/>
          <a:p>
            <a:pPr algn="just"/>
            <a:r>
              <a:rPr lang="en-US" sz="1200" b="1" dirty="0"/>
              <a:t>for all these stores</a:t>
            </a:r>
          </a:p>
          <a:p>
            <a:pPr algn="just"/>
            <a:r>
              <a:rPr lang="en-US" sz="1100" i="1" dirty="0">
                <a:solidFill>
                  <a:schemeClr val="accent1"/>
                </a:solidFill>
              </a:rPr>
              <a:t>Next slide the example of FAMECK</a:t>
            </a:r>
          </a:p>
        </p:txBody>
      </p:sp>
      <p:cxnSp>
        <p:nvCxnSpPr>
          <p:cNvPr id="14" name="Straight Arrow Connector 13">
            <a:extLst>
              <a:ext uri="{FF2B5EF4-FFF2-40B4-BE49-F238E27FC236}">
                <a16:creationId xmlns:a16="http://schemas.microsoft.com/office/drawing/2014/main" id="{C8D3A010-053E-D0EE-2EE9-6A62D69B2946}"/>
              </a:ext>
            </a:extLst>
          </p:cNvPr>
          <p:cNvCxnSpPr/>
          <p:nvPr/>
        </p:nvCxnSpPr>
        <p:spPr>
          <a:xfrm>
            <a:off x="250597" y="3219182"/>
            <a:ext cx="360951" cy="5868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5" name="Oval 14">
            <a:extLst>
              <a:ext uri="{FF2B5EF4-FFF2-40B4-BE49-F238E27FC236}">
                <a16:creationId xmlns:a16="http://schemas.microsoft.com/office/drawing/2014/main" id="{14FF20CF-A8A2-95C2-89DD-B25E6781F535}"/>
              </a:ext>
            </a:extLst>
          </p:cNvPr>
          <p:cNvSpPr/>
          <p:nvPr/>
        </p:nvSpPr>
        <p:spPr>
          <a:xfrm>
            <a:off x="431072" y="3588647"/>
            <a:ext cx="1665241" cy="90789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7" name="TextBox 16">
            <a:extLst>
              <a:ext uri="{FF2B5EF4-FFF2-40B4-BE49-F238E27FC236}">
                <a16:creationId xmlns:a16="http://schemas.microsoft.com/office/drawing/2014/main" id="{40E00DB9-A8B3-C597-1758-03792E163A51}"/>
              </a:ext>
            </a:extLst>
          </p:cNvPr>
          <p:cNvSpPr txBox="1"/>
          <p:nvPr/>
        </p:nvSpPr>
        <p:spPr>
          <a:xfrm>
            <a:off x="8447926" y="1291330"/>
            <a:ext cx="3410994" cy="3785652"/>
          </a:xfrm>
          <a:prstGeom prst="rect">
            <a:avLst/>
          </a:prstGeom>
          <a:noFill/>
        </p:spPr>
        <p:txBody>
          <a:bodyPr wrap="square">
            <a:spAutoFit/>
          </a:bodyPr>
          <a:lstStyle/>
          <a:p>
            <a:pPr algn="just"/>
            <a:r>
              <a:rPr lang="en-US" sz="1500" i="1" dirty="0"/>
              <a:t>Considerations valid for </a:t>
            </a:r>
            <a:r>
              <a:rPr lang="en-US" sz="1500" b="1" i="1" dirty="0"/>
              <a:t>all</a:t>
            </a:r>
            <a:r>
              <a:rPr lang="en-US" sz="1500" i="1" dirty="0"/>
              <a:t> top 10 stores by positive total margin:</a:t>
            </a:r>
          </a:p>
          <a:p>
            <a:pPr algn="just"/>
            <a:endParaRPr lang="en-US" sz="1500" dirty="0"/>
          </a:p>
          <a:p>
            <a:pPr algn="just">
              <a:buFont typeface="Arial" panose="020B0604020202020204" pitchFamily="34" charset="0"/>
              <a:buChar char="•"/>
            </a:pPr>
            <a:r>
              <a:rPr lang="en-US" sz="1500" dirty="0"/>
              <a:t>After 2009/2010, most of these stores have recorded losses.</a:t>
            </a:r>
          </a:p>
          <a:p>
            <a:pPr algn="just">
              <a:buFont typeface="Arial" panose="020B0604020202020204" pitchFamily="34" charset="0"/>
              <a:buChar char="•"/>
            </a:pPr>
            <a:endParaRPr lang="en-US" sz="1500" dirty="0"/>
          </a:p>
          <a:p>
            <a:pPr algn="just">
              <a:buFont typeface="Arial" panose="020B0604020202020204" pitchFamily="34" charset="0"/>
              <a:buChar char="•"/>
            </a:pPr>
            <a:r>
              <a:rPr lang="en-US" sz="1500" dirty="0"/>
              <a:t>The common product sold across these stores is ORWPM4 that has a significant negative impact on the margin, with high quantities sold and a negative weighted margin per unit.</a:t>
            </a:r>
          </a:p>
          <a:p>
            <a:pPr algn="just">
              <a:buFont typeface="Arial" panose="020B0604020202020204" pitchFamily="34" charset="0"/>
              <a:buChar char="•"/>
            </a:pPr>
            <a:endParaRPr lang="en-US" sz="1500" dirty="0"/>
          </a:p>
          <a:p>
            <a:pPr algn="just">
              <a:buFont typeface="Arial" panose="020B0604020202020204" pitchFamily="34" charset="0"/>
              <a:buChar char="•"/>
            </a:pPr>
            <a:r>
              <a:rPr lang="en-US" sz="1500" dirty="0"/>
              <a:t>Filtering by the product </a:t>
            </a:r>
            <a:r>
              <a:rPr lang="en-US" sz="1500" b="1" dirty="0">
                <a:solidFill>
                  <a:schemeClr val="accent1">
                    <a:lumMod val="75000"/>
                  </a:schemeClr>
                </a:solidFill>
              </a:rPr>
              <a:t>(in the next slide),</a:t>
            </a:r>
            <a:r>
              <a:rPr lang="en-US" sz="1500" dirty="0"/>
              <a:t> shows a clear influence on the negative trend in sales and margin across the store.</a:t>
            </a:r>
          </a:p>
        </p:txBody>
      </p:sp>
      <p:sp>
        <p:nvSpPr>
          <p:cNvPr id="18" name="Oval 17">
            <a:extLst>
              <a:ext uri="{FF2B5EF4-FFF2-40B4-BE49-F238E27FC236}">
                <a16:creationId xmlns:a16="http://schemas.microsoft.com/office/drawing/2014/main" id="{E1F33FE6-F8F5-5102-3C1E-AD285E4BD964}"/>
              </a:ext>
            </a:extLst>
          </p:cNvPr>
          <p:cNvSpPr/>
          <p:nvPr/>
        </p:nvSpPr>
        <p:spPr>
          <a:xfrm>
            <a:off x="6204776" y="4239039"/>
            <a:ext cx="1665241" cy="90789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9" name="Arrow: Down 18">
            <a:extLst>
              <a:ext uri="{FF2B5EF4-FFF2-40B4-BE49-F238E27FC236}">
                <a16:creationId xmlns:a16="http://schemas.microsoft.com/office/drawing/2014/main" id="{27A2F058-33F5-2B47-0A18-48E479291E72}"/>
              </a:ext>
            </a:extLst>
          </p:cNvPr>
          <p:cNvSpPr/>
          <p:nvPr/>
        </p:nvSpPr>
        <p:spPr>
          <a:xfrm>
            <a:off x="9990466" y="5313932"/>
            <a:ext cx="509048" cy="697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1263436-A5C1-81AF-4978-F72E8A5448D0}"/>
              </a:ext>
            </a:extLst>
          </p:cNvPr>
          <p:cNvSpPr/>
          <p:nvPr/>
        </p:nvSpPr>
        <p:spPr>
          <a:xfrm>
            <a:off x="5136618" y="2164767"/>
            <a:ext cx="1665241" cy="90789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cxnSp>
        <p:nvCxnSpPr>
          <p:cNvPr id="28" name="Straight Arrow Connector 27">
            <a:extLst>
              <a:ext uri="{FF2B5EF4-FFF2-40B4-BE49-F238E27FC236}">
                <a16:creationId xmlns:a16="http://schemas.microsoft.com/office/drawing/2014/main" id="{AEFFD7B6-6F2A-6348-086F-9836F5E8F7BF}"/>
              </a:ext>
            </a:extLst>
          </p:cNvPr>
          <p:cNvCxnSpPr/>
          <p:nvPr/>
        </p:nvCxnSpPr>
        <p:spPr>
          <a:xfrm flipH="1">
            <a:off x="4996206" y="3072666"/>
            <a:ext cx="609602" cy="239883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9" name="Slide Number Placeholder 28">
            <a:extLst>
              <a:ext uri="{FF2B5EF4-FFF2-40B4-BE49-F238E27FC236}">
                <a16:creationId xmlns:a16="http://schemas.microsoft.com/office/drawing/2014/main" id="{9292229A-FE5E-6CE0-1B62-BE0427C5909C}"/>
              </a:ext>
            </a:extLst>
          </p:cNvPr>
          <p:cNvSpPr>
            <a:spLocks noGrp="1"/>
          </p:cNvSpPr>
          <p:nvPr>
            <p:ph type="sldNum" sz="quarter" idx="4"/>
          </p:nvPr>
        </p:nvSpPr>
        <p:spPr/>
        <p:txBody>
          <a:bodyPr/>
          <a:lstStyle/>
          <a:p>
            <a:fld id="{9860EDB8-5305-433F-BE41-D7A86D811DB3}" type="slidenum">
              <a:rPr lang="en-US" smtClean="0"/>
              <a:pPr/>
              <a:t>18</a:t>
            </a:fld>
            <a:endParaRPr lang="en-US" dirty="0"/>
          </a:p>
        </p:txBody>
      </p:sp>
    </p:spTree>
    <p:extLst>
      <p:ext uri="{BB962C8B-B14F-4D97-AF65-F5344CB8AC3E}">
        <p14:creationId xmlns:p14="http://schemas.microsoft.com/office/powerpoint/2010/main" val="2903024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A73FBC-2447-2B0C-807F-49E1E98A59D8}"/>
              </a:ext>
            </a:extLst>
          </p:cNvPr>
          <p:cNvPicPr>
            <a:picLocks noChangeAspect="1"/>
          </p:cNvPicPr>
          <p:nvPr/>
        </p:nvPicPr>
        <p:blipFill>
          <a:blip r:embed="rId2"/>
          <a:stretch>
            <a:fillRect/>
          </a:stretch>
        </p:blipFill>
        <p:spPr>
          <a:xfrm>
            <a:off x="659876" y="1545446"/>
            <a:ext cx="8831098" cy="4308505"/>
          </a:xfrm>
          <a:prstGeom prst="rect">
            <a:avLst/>
          </a:prstGeom>
        </p:spPr>
      </p:pic>
      <p:sp>
        <p:nvSpPr>
          <p:cNvPr id="2" name="Title 1">
            <a:extLst>
              <a:ext uri="{FF2B5EF4-FFF2-40B4-BE49-F238E27FC236}">
                <a16:creationId xmlns:a16="http://schemas.microsoft.com/office/drawing/2014/main" id="{04E37909-41B8-A8DE-08BC-11F13B7E95A9}"/>
              </a:ext>
            </a:extLst>
          </p:cNvPr>
          <p:cNvSpPr>
            <a:spLocks noGrp="1"/>
          </p:cNvSpPr>
          <p:nvPr>
            <p:ph type="title"/>
          </p:nvPr>
        </p:nvSpPr>
        <p:spPr>
          <a:xfrm>
            <a:off x="521207" y="448056"/>
            <a:ext cx="9235535" cy="640080"/>
          </a:xfrm>
        </p:spPr>
        <p:txBody>
          <a:bodyPr>
            <a:noAutofit/>
          </a:bodyPr>
          <a:lstStyle/>
          <a:p>
            <a:r>
              <a:rPr lang="it-IT" b="1" dirty="0">
                <a:solidFill>
                  <a:srgbClr val="C00000"/>
                </a:solidFill>
              </a:rPr>
              <a:t>5. </a:t>
            </a:r>
            <a:r>
              <a:rPr lang="it-IT" dirty="0" err="1"/>
              <a:t>Example</a:t>
            </a:r>
            <a:r>
              <a:rPr lang="it-IT" dirty="0"/>
              <a:t> of the impact of </a:t>
            </a:r>
            <a:r>
              <a:rPr lang="it-IT" dirty="0" err="1"/>
              <a:t>ORPWPM4</a:t>
            </a:r>
            <a:r>
              <a:rPr lang="it-IT" dirty="0"/>
              <a:t> in a Store</a:t>
            </a:r>
            <a:endParaRPr lang="en-US" dirty="0"/>
          </a:p>
        </p:txBody>
      </p:sp>
      <p:sp>
        <p:nvSpPr>
          <p:cNvPr id="5" name="Oval 4">
            <a:extLst>
              <a:ext uri="{FF2B5EF4-FFF2-40B4-BE49-F238E27FC236}">
                <a16:creationId xmlns:a16="http://schemas.microsoft.com/office/drawing/2014/main" id="{534EC457-CDDC-C6B6-44AF-C8DE81473E58}"/>
              </a:ext>
            </a:extLst>
          </p:cNvPr>
          <p:cNvSpPr/>
          <p:nvPr/>
        </p:nvSpPr>
        <p:spPr>
          <a:xfrm>
            <a:off x="7082832" y="4174518"/>
            <a:ext cx="2146009" cy="153812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FF59AAB6-8A25-0EBF-D770-5096F65333C2}"/>
              </a:ext>
            </a:extLst>
          </p:cNvPr>
          <p:cNvCxnSpPr/>
          <p:nvPr/>
        </p:nvCxnSpPr>
        <p:spPr>
          <a:xfrm flipH="1">
            <a:off x="7062817" y="2776994"/>
            <a:ext cx="671018" cy="6881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B6229C22-FE3F-FE72-6FDC-E2B192BA64A8}"/>
              </a:ext>
            </a:extLst>
          </p:cNvPr>
          <p:cNvCxnSpPr>
            <a:cxnSpLocks/>
          </p:cNvCxnSpPr>
          <p:nvPr/>
        </p:nvCxnSpPr>
        <p:spPr>
          <a:xfrm>
            <a:off x="531347" y="3465151"/>
            <a:ext cx="251078" cy="11728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C85175F-A15E-2B6A-AA4B-4E3120308943}"/>
              </a:ext>
            </a:extLst>
          </p:cNvPr>
          <p:cNvSpPr txBox="1"/>
          <p:nvPr/>
        </p:nvSpPr>
        <p:spPr>
          <a:xfrm>
            <a:off x="9619503" y="1649269"/>
            <a:ext cx="2158739" cy="3108543"/>
          </a:xfrm>
          <a:prstGeom prst="rect">
            <a:avLst/>
          </a:prstGeom>
          <a:noFill/>
        </p:spPr>
        <p:txBody>
          <a:bodyPr wrap="square">
            <a:spAutoFit/>
          </a:bodyPr>
          <a:lstStyle/>
          <a:p>
            <a:pPr algn="just"/>
            <a:r>
              <a:rPr lang="en-US" sz="1400" dirty="0"/>
              <a:t>Filtered by both store (</a:t>
            </a:r>
            <a:r>
              <a:rPr lang="en-US" sz="1400" b="1" dirty="0"/>
              <a:t>FAMECK</a:t>
            </a:r>
            <a:r>
              <a:rPr lang="en-US" sz="1400" dirty="0"/>
              <a:t>) and product (</a:t>
            </a:r>
            <a:r>
              <a:rPr lang="en-US" sz="1400" b="1" dirty="0"/>
              <a:t>ORWPM4</a:t>
            </a:r>
            <a:r>
              <a:rPr lang="en-US" sz="1400" dirty="0"/>
              <a:t>):</a:t>
            </a:r>
          </a:p>
          <a:p>
            <a:pPr algn="just"/>
            <a:endParaRPr lang="en-US" sz="1400" dirty="0"/>
          </a:p>
          <a:p>
            <a:pPr marL="285750" indent="-285750" algn="just">
              <a:buFont typeface="Arial" panose="020B0604020202020204" pitchFamily="34" charset="0"/>
              <a:buChar char="•"/>
            </a:pPr>
            <a:r>
              <a:rPr lang="en-US" sz="1400" dirty="0"/>
              <a:t>Quantity sold of this product in the store: 166 units</a:t>
            </a:r>
          </a:p>
          <a:p>
            <a:pPr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Weighted margin per unit in the store for this product: -3.639</a:t>
            </a:r>
          </a:p>
          <a:p>
            <a:pPr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Purchased by 165 distinct customers</a:t>
            </a:r>
          </a:p>
        </p:txBody>
      </p:sp>
      <p:sp>
        <p:nvSpPr>
          <p:cNvPr id="17" name="TextBox 16">
            <a:extLst>
              <a:ext uri="{FF2B5EF4-FFF2-40B4-BE49-F238E27FC236}">
                <a16:creationId xmlns:a16="http://schemas.microsoft.com/office/drawing/2014/main" id="{9BEF9ECE-292E-87D9-FCB7-3072294FC42E}"/>
              </a:ext>
            </a:extLst>
          </p:cNvPr>
          <p:cNvSpPr txBox="1"/>
          <p:nvPr/>
        </p:nvSpPr>
        <p:spPr>
          <a:xfrm>
            <a:off x="197963" y="3188152"/>
            <a:ext cx="1948991" cy="276999"/>
          </a:xfrm>
          <a:prstGeom prst="rect">
            <a:avLst/>
          </a:prstGeom>
          <a:noFill/>
        </p:spPr>
        <p:txBody>
          <a:bodyPr wrap="square">
            <a:spAutoFit/>
          </a:bodyPr>
          <a:lstStyle/>
          <a:p>
            <a:pPr algn="just"/>
            <a:r>
              <a:rPr lang="en-US" sz="1200" b="1" dirty="0"/>
              <a:t>FAMECK</a:t>
            </a:r>
          </a:p>
        </p:txBody>
      </p:sp>
      <p:sp>
        <p:nvSpPr>
          <p:cNvPr id="23" name="Slide Number Placeholder 22">
            <a:extLst>
              <a:ext uri="{FF2B5EF4-FFF2-40B4-BE49-F238E27FC236}">
                <a16:creationId xmlns:a16="http://schemas.microsoft.com/office/drawing/2014/main" id="{EF873936-1F4D-0ECB-CABA-E176E0C74FDF}"/>
              </a:ext>
            </a:extLst>
          </p:cNvPr>
          <p:cNvSpPr>
            <a:spLocks noGrp="1"/>
          </p:cNvSpPr>
          <p:nvPr>
            <p:ph type="sldNum" sz="quarter" idx="4"/>
          </p:nvPr>
        </p:nvSpPr>
        <p:spPr/>
        <p:txBody>
          <a:bodyPr/>
          <a:lstStyle/>
          <a:p>
            <a:fld id="{9860EDB8-5305-433F-BE41-D7A86D811DB3}" type="slidenum">
              <a:rPr lang="en-US" smtClean="0"/>
              <a:pPr/>
              <a:t>19</a:t>
            </a:fld>
            <a:endParaRPr lang="en-US" dirty="0"/>
          </a:p>
        </p:txBody>
      </p:sp>
    </p:spTree>
    <p:extLst>
      <p:ext uri="{BB962C8B-B14F-4D97-AF65-F5344CB8AC3E}">
        <p14:creationId xmlns:p14="http://schemas.microsoft.com/office/powerpoint/2010/main" val="1947345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3B5D9-12B6-C33A-6522-1C55DE4DA6F0}"/>
              </a:ext>
            </a:extLst>
          </p:cNvPr>
          <p:cNvSpPr>
            <a:spLocks noGrp="1"/>
          </p:cNvSpPr>
          <p:nvPr>
            <p:ph type="title"/>
          </p:nvPr>
        </p:nvSpPr>
        <p:spPr/>
        <p:txBody>
          <a:bodyPr/>
          <a:lstStyle/>
          <a:p>
            <a:r>
              <a:rPr lang="it-IT" b="1" dirty="0">
                <a:solidFill>
                  <a:srgbClr val="C00000"/>
                </a:solidFill>
              </a:rPr>
              <a:t>5. </a:t>
            </a:r>
            <a:r>
              <a:rPr lang="it-IT" dirty="0" err="1"/>
              <a:t>ORPWM4</a:t>
            </a:r>
            <a:r>
              <a:rPr lang="it-IT" dirty="0"/>
              <a:t> across the stores</a:t>
            </a:r>
            <a:endParaRPr lang="en-US" dirty="0"/>
          </a:p>
        </p:txBody>
      </p:sp>
      <p:sp>
        <p:nvSpPr>
          <p:cNvPr id="11" name="TextBox 10">
            <a:extLst>
              <a:ext uri="{FF2B5EF4-FFF2-40B4-BE49-F238E27FC236}">
                <a16:creationId xmlns:a16="http://schemas.microsoft.com/office/drawing/2014/main" id="{615448DB-2B75-7562-79A2-DF6681A1AC01}"/>
              </a:ext>
            </a:extLst>
          </p:cNvPr>
          <p:cNvSpPr txBox="1"/>
          <p:nvPr/>
        </p:nvSpPr>
        <p:spPr>
          <a:xfrm>
            <a:off x="8936969" y="1545995"/>
            <a:ext cx="2842741" cy="3970318"/>
          </a:xfrm>
          <a:prstGeom prst="rect">
            <a:avLst/>
          </a:prstGeom>
          <a:noFill/>
        </p:spPr>
        <p:txBody>
          <a:bodyPr wrap="square">
            <a:spAutoFit/>
          </a:bodyPr>
          <a:lstStyle/>
          <a:p>
            <a:pPr marL="285750" indent="-285750" algn="just">
              <a:buFont typeface="Arial" panose="020B0604020202020204" pitchFamily="34" charset="0"/>
              <a:buChar char="•"/>
            </a:pPr>
            <a:r>
              <a:rPr lang="en-US" sz="1400" dirty="0"/>
              <a:t>While first filtering by the product and then by the store, it can be observed that among the stores with both most positive and most negative margins for the product, all margins are negative (all red). </a:t>
            </a:r>
          </a:p>
          <a:p>
            <a:pPr marL="285750" indent="-285750" algn="just">
              <a:buFont typeface="Arial" panose="020B0604020202020204" pitchFamily="34" charset="0"/>
              <a:buChar char="•"/>
            </a:pPr>
            <a:endParaRPr lang="en-US" sz="1400" dirty="0"/>
          </a:p>
          <a:p>
            <a:pPr marL="285750" indent="-285750" algn="just">
              <a:buFont typeface="Arial" panose="020B0604020202020204" pitchFamily="34" charset="0"/>
              <a:buChar char="•"/>
            </a:pPr>
            <a:r>
              <a:rPr lang="en-US" sz="1400" dirty="0"/>
              <a:t>The lowest negative margin is from the store Clermont </a:t>
            </a:r>
            <a:r>
              <a:rPr lang="en-US" sz="1400" dirty="0" err="1"/>
              <a:t>Aubière</a:t>
            </a:r>
            <a:endParaRPr lang="en-US" sz="1400" dirty="0"/>
          </a:p>
          <a:p>
            <a:pPr algn="just"/>
            <a:endParaRPr lang="en-US" sz="1400" dirty="0"/>
          </a:p>
          <a:p>
            <a:pPr marL="285750" indent="-285750" algn="just">
              <a:buFont typeface="Arial" panose="020B0604020202020204" pitchFamily="34" charset="0"/>
              <a:buChar char="•"/>
            </a:pPr>
            <a:r>
              <a:rPr lang="en-US" sz="1400" dirty="0"/>
              <a:t>From the map it can be observed how the product  is widely distributed</a:t>
            </a:r>
          </a:p>
          <a:p>
            <a:pPr algn="just"/>
            <a:endParaRPr lang="en-US" sz="1400" dirty="0"/>
          </a:p>
          <a:p>
            <a:pPr algn="just"/>
            <a:endParaRPr lang="en-US" sz="1400" dirty="0"/>
          </a:p>
        </p:txBody>
      </p:sp>
      <p:pic>
        <p:nvPicPr>
          <p:cNvPr id="14" name="Picture 13">
            <a:extLst>
              <a:ext uri="{FF2B5EF4-FFF2-40B4-BE49-F238E27FC236}">
                <a16:creationId xmlns:a16="http://schemas.microsoft.com/office/drawing/2014/main" id="{FFBEE1D3-C396-2E8D-D100-7EA80487F6FD}"/>
              </a:ext>
            </a:extLst>
          </p:cNvPr>
          <p:cNvPicPr>
            <a:picLocks noChangeAspect="1"/>
          </p:cNvPicPr>
          <p:nvPr/>
        </p:nvPicPr>
        <p:blipFill>
          <a:blip r:embed="rId2"/>
          <a:stretch>
            <a:fillRect/>
          </a:stretch>
        </p:blipFill>
        <p:spPr>
          <a:xfrm>
            <a:off x="494702" y="1487077"/>
            <a:ext cx="8198587" cy="4037069"/>
          </a:xfrm>
          <a:prstGeom prst="rect">
            <a:avLst/>
          </a:prstGeom>
        </p:spPr>
      </p:pic>
      <p:sp>
        <p:nvSpPr>
          <p:cNvPr id="7" name="Oval 6">
            <a:extLst>
              <a:ext uri="{FF2B5EF4-FFF2-40B4-BE49-F238E27FC236}">
                <a16:creationId xmlns:a16="http://schemas.microsoft.com/office/drawing/2014/main" id="{1A85405C-5A19-286A-BD9D-D1777B882C0A}"/>
              </a:ext>
            </a:extLst>
          </p:cNvPr>
          <p:cNvSpPr/>
          <p:nvPr/>
        </p:nvSpPr>
        <p:spPr>
          <a:xfrm>
            <a:off x="412290" y="3564528"/>
            <a:ext cx="1121789" cy="212381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5" name="Oval 14">
            <a:extLst>
              <a:ext uri="{FF2B5EF4-FFF2-40B4-BE49-F238E27FC236}">
                <a16:creationId xmlns:a16="http://schemas.microsoft.com/office/drawing/2014/main" id="{42599F11-6D8D-E85A-DFB4-836F690AE84B}"/>
              </a:ext>
            </a:extLst>
          </p:cNvPr>
          <p:cNvSpPr/>
          <p:nvPr/>
        </p:nvSpPr>
        <p:spPr>
          <a:xfrm>
            <a:off x="7598005" y="5031654"/>
            <a:ext cx="1121789" cy="604051"/>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16" name="Oval 15">
            <a:extLst>
              <a:ext uri="{FF2B5EF4-FFF2-40B4-BE49-F238E27FC236}">
                <a16:creationId xmlns:a16="http://schemas.microsoft.com/office/drawing/2014/main" id="{840D4928-FE2A-5A80-5FD8-93323FE6D35D}"/>
              </a:ext>
            </a:extLst>
          </p:cNvPr>
          <p:cNvSpPr/>
          <p:nvPr/>
        </p:nvSpPr>
        <p:spPr>
          <a:xfrm>
            <a:off x="973184" y="1501500"/>
            <a:ext cx="2590953" cy="212381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AF2CE1BB-84FB-B61D-948D-3E243EDD06D0}"/>
              </a:ext>
            </a:extLst>
          </p:cNvPr>
          <p:cNvPicPr>
            <a:picLocks noChangeAspect="1"/>
          </p:cNvPicPr>
          <p:nvPr/>
        </p:nvPicPr>
        <p:blipFill>
          <a:blip r:embed="rId3"/>
          <a:srcRect t="70364" r="69076"/>
          <a:stretch/>
        </p:blipFill>
        <p:spPr>
          <a:xfrm>
            <a:off x="1743237" y="5021306"/>
            <a:ext cx="2850759" cy="1449212"/>
          </a:xfrm>
          <a:prstGeom prst="rect">
            <a:avLst/>
          </a:prstGeom>
        </p:spPr>
      </p:pic>
      <p:cxnSp>
        <p:nvCxnSpPr>
          <p:cNvPr id="19" name="Straight Arrow Connector 18">
            <a:extLst>
              <a:ext uri="{FF2B5EF4-FFF2-40B4-BE49-F238E27FC236}">
                <a16:creationId xmlns:a16="http://schemas.microsoft.com/office/drawing/2014/main" id="{F8BE76A5-2EAA-3093-1E60-C55FA254952B}"/>
              </a:ext>
            </a:extLst>
          </p:cNvPr>
          <p:cNvCxnSpPr/>
          <p:nvPr/>
        </p:nvCxnSpPr>
        <p:spPr>
          <a:xfrm>
            <a:off x="763571" y="5173667"/>
            <a:ext cx="1187777" cy="4620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Straight Arrow Connector 20">
            <a:extLst>
              <a:ext uri="{FF2B5EF4-FFF2-40B4-BE49-F238E27FC236}">
                <a16:creationId xmlns:a16="http://schemas.microsoft.com/office/drawing/2014/main" id="{ACA36CE4-74D3-8C95-1AA3-F8352570B03E}"/>
              </a:ext>
            </a:extLst>
          </p:cNvPr>
          <p:cNvCxnSpPr/>
          <p:nvPr/>
        </p:nvCxnSpPr>
        <p:spPr>
          <a:xfrm>
            <a:off x="1187777" y="4647414"/>
            <a:ext cx="6410228" cy="13291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739C1E28-5235-4C0F-B231-DDFF9E6F62E1}"/>
              </a:ext>
            </a:extLst>
          </p:cNvPr>
          <p:cNvSpPr txBox="1"/>
          <p:nvPr/>
        </p:nvSpPr>
        <p:spPr>
          <a:xfrm>
            <a:off x="5790414" y="6019945"/>
            <a:ext cx="6094428" cy="430887"/>
          </a:xfrm>
          <a:prstGeom prst="rect">
            <a:avLst/>
          </a:prstGeom>
          <a:noFill/>
        </p:spPr>
        <p:txBody>
          <a:bodyPr wrap="square">
            <a:spAutoFit/>
          </a:bodyPr>
          <a:lstStyle/>
          <a:p>
            <a:r>
              <a:rPr lang="en-US" sz="1100" dirty="0"/>
              <a:t>Size: Sum Total Margin is used -&gt; </a:t>
            </a:r>
            <a:r>
              <a:rPr lang="en-US" sz="1100" b="1" dirty="0"/>
              <a:t>10 negative </a:t>
            </a:r>
            <a:r>
              <a:rPr lang="en-US" sz="1100" dirty="0"/>
              <a:t>indicates that there are no stores with a positive margin for this product</a:t>
            </a:r>
          </a:p>
        </p:txBody>
      </p:sp>
      <p:sp>
        <p:nvSpPr>
          <p:cNvPr id="24" name="Slide Number Placeholder 23">
            <a:extLst>
              <a:ext uri="{FF2B5EF4-FFF2-40B4-BE49-F238E27FC236}">
                <a16:creationId xmlns:a16="http://schemas.microsoft.com/office/drawing/2014/main" id="{9E8C7DE9-5F1C-26AA-2D80-D52A05E70B62}"/>
              </a:ext>
            </a:extLst>
          </p:cNvPr>
          <p:cNvSpPr>
            <a:spLocks noGrp="1"/>
          </p:cNvSpPr>
          <p:nvPr>
            <p:ph type="sldNum" sz="quarter" idx="4"/>
          </p:nvPr>
        </p:nvSpPr>
        <p:spPr/>
        <p:txBody>
          <a:bodyPr/>
          <a:lstStyle/>
          <a:p>
            <a:fld id="{9860EDB8-5305-433F-BE41-D7A86D811DB3}" type="slidenum">
              <a:rPr lang="en-US" smtClean="0"/>
              <a:pPr/>
              <a:t>20</a:t>
            </a:fld>
            <a:endParaRPr lang="en-US" dirty="0"/>
          </a:p>
        </p:txBody>
      </p:sp>
    </p:spTree>
    <p:extLst>
      <p:ext uri="{BB962C8B-B14F-4D97-AF65-F5344CB8AC3E}">
        <p14:creationId xmlns:p14="http://schemas.microsoft.com/office/powerpoint/2010/main" val="1451957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B8F6-6EEA-456F-4FD5-DD83C78A1E69}"/>
              </a:ext>
            </a:extLst>
          </p:cNvPr>
          <p:cNvSpPr>
            <a:spLocks noGrp="1"/>
          </p:cNvSpPr>
          <p:nvPr>
            <p:ph type="title"/>
          </p:nvPr>
        </p:nvSpPr>
        <p:spPr/>
        <p:txBody>
          <a:bodyPr/>
          <a:lstStyle/>
          <a:p>
            <a:r>
              <a:rPr lang="it-IT" b="1" dirty="0">
                <a:solidFill>
                  <a:srgbClr val="C00000"/>
                </a:solidFill>
              </a:rPr>
              <a:t>5. </a:t>
            </a:r>
            <a:r>
              <a:rPr lang="en-US" dirty="0"/>
              <a:t>And the cashiers?</a:t>
            </a:r>
          </a:p>
        </p:txBody>
      </p:sp>
      <p:pic>
        <p:nvPicPr>
          <p:cNvPr id="9" name="Picture 8">
            <a:extLst>
              <a:ext uri="{FF2B5EF4-FFF2-40B4-BE49-F238E27FC236}">
                <a16:creationId xmlns:a16="http://schemas.microsoft.com/office/drawing/2014/main" id="{88E959C6-88D9-0A7B-2691-BC11EFB76F6D}"/>
              </a:ext>
            </a:extLst>
          </p:cNvPr>
          <p:cNvPicPr>
            <a:picLocks noChangeAspect="1"/>
          </p:cNvPicPr>
          <p:nvPr/>
        </p:nvPicPr>
        <p:blipFill>
          <a:blip r:embed="rId2"/>
          <a:stretch>
            <a:fillRect/>
          </a:stretch>
        </p:blipFill>
        <p:spPr>
          <a:xfrm>
            <a:off x="521207" y="2051118"/>
            <a:ext cx="7246480" cy="3685176"/>
          </a:xfrm>
          <a:prstGeom prst="rect">
            <a:avLst/>
          </a:prstGeom>
        </p:spPr>
      </p:pic>
      <p:pic>
        <p:nvPicPr>
          <p:cNvPr id="11" name="Picture 10">
            <a:extLst>
              <a:ext uri="{FF2B5EF4-FFF2-40B4-BE49-F238E27FC236}">
                <a16:creationId xmlns:a16="http://schemas.microsoft.com/office/drawing/2014/main" id="{982AAADA-FDF1-19EF-2AFB-D9C3CA0FEE50}"/>
              </a:ext>
            </a:extLst>
          </p:cNvPr>
          <p:cNvPicPr>
            <a:picLocks noChangeAspect="1"/>
          </p:cNvPicPr>
          <p:nvPr/>
        </p:nvPicPr>
        <p:blipFill>
          <a:blip r:embed="rId3"/>
          <a:stretch>
            <a:fillRect/>
          </a:stretch>
        </p:blipFill>
        <p:spPr>
          <a:xfrm>
            <a:off x="8173660" y="2051118"/>
            <a:ext cx="2577021" cy="2556676"/>
          </a:xfrm>
          <a:prstGeom prst="rect">
            <a:avLst/>
          </a:prstGeom>
        </p:spPr>
      </p:pic>
      <p:sp>
        <p:nvSpPr>
          <p:cNvPr id="13" name="TextBox 12">
            <a:extLst>
              <a:ext uri="{FF2B5EF4-FFF2-40B4-BE49-F238E27FC236}">
                <a16:creationId xmlns:a16="http://schemas.microsoft.com/office/drawing/2014/main" id="{812AB564-46A0-66D4-47C5-1DAA30AB3333}"/>
              </a:ext>
            </a:extLst>
          </p:cNvPr>
          <p:cNvSpPr txBox="1"/>
          <p:nvPr/>
        </p:nvSpPr>
        <p:spPr>
          <a:xfrm>
            <a:off x="8151240" y="4930468"/>
            <a:ext cx="2599441" cy="954107"/>
          </a:xfrm>
          <a:prstGeom prst="rect">
            <a:avLst/>
          </a:prstGeom>
          <a:noFill/>
        </p:spPr>
        <p:txBody>
          <a:bodyPr wrap="square">
            <a:spAutoFit/>
          </a:bodyPr>
          <a:lstStyle/>
          <a:p>
            <a:pPr algn="just"/>
            <a:r>
              <a:rPr lang="en-US" sz="1400" dirty="0"/>
              <a:t>It can be observed that the cashier who generated the most negative margin for this product mainly sold it at 3 PM.</a:t>
            </a:r>
          </a:p>
        </p:txBody>
      </p:sp>
      <p:cxnSp>
        <p:nvCxnSpPr>
          <p:cNvPr id="15" name="Straight Arrow Connector 14">
            <a:extLst>
              <a:ext uri="{FF2B5EF4-FFF2-40B4-BE49-F238E27FC236}">
                <a16:creationId xmlns:a16="http://schemas.microsoft.com/office/drawing/2014/main" id="{CC0F99EE-73D9-545C-A371-3C274E7AF835}"/>
              </a:ext>
            </a:extLst>
          </p:cNvPr>
          <p:cNvCxnSpPr/>
          <p:nvPr/>
        </p:nvCxnSpPr>
        <p:spPr>
          <a:xfrm flipV="1">
            <a:off x="4722829" y="3530092"/>
            <a:ext cx="4637987" cy="10419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Slide Number Placeholder 15">
            <a:extLst>
              <a:ext uri="{FF2B5EF4-FFF2-40B4-BE49-F238E27FC236}">
                <a16:creationId xmlns:a16="http://schemas.microsoft.com/office/drawing/2014/main" id="{B1229AB5-625A-ED2E-5B05-365253D20E79}"/>
              </a:ext>
            </a:extLst>
          </p:cNvPr>
          <p:cNvSpPr>
            <a:spLocks noGrp="1"/>
          </p:cNvSpPr>
          <p:nvPr>
            <p:ph type="sldNum" sz="quarter" idx="4"/>
          </p:nvPr>
        </p:nvSpPr>
        <p:spPr/>
        <p:txBody>
          <a:bodyPr/>
          <a:lstStyle/>
          <a:p>
            <a:fld id="{9860EDB8-5305-433F-BE41-D7A86D811DB3}" type="slidenum">
              <a:rPr lang="en-US" smtClean="0"/>
              <a:pPr/>
              <a:t>21</a:t>
            </a:fld>
            <a:endParaRPr lang="en-US" dirty="0"/>
          </a:p>
        </p:txBody>
      </p:sp>
    </p:spTree>
    <p:extLst>
      <p:ext uri="{BB962C8B-B14F-4D97-AF65-F5344CB8AC3E}">
        <p14:creationId xmlns:p14="http://schemas.microsoft.com/office/powerpoint/2010/main" val="407877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9B92-E4ED-5AF6-7995-AF2F03496D73}"/>
              </a:ext>
            </a:extLst>
          </p:cNvPr>
          <p:cNvSpPr>
            <a:spLocks noGrp="1"/>
          </p:cNvSpPr>
          <p:nvPr>
            <p:ph type="title"/>
          </p:nvPr>
        </p:nvSpPr>
        <p:spPr/>
        <p:txBody>
          <a:bodyPr/>
          <a:lstStyle/>
          <a:p>
            <a:r>
              <a:rPr lang="it-IT" b="1" dirty="0">
                <a:solidFill>
                  <a:srgbClr val="C00000"/>
                </a:solidFill>
              </a:rPr>
              <a:t>5. </a:t>
            </a:r>
            <a:r>
              <a:rPr lang="it-IT" dirty="0" err="1"/>
              <a:t>ORWPM4</a:t>
            </a:r>
            <a:r>
              <a:rPr lang="it-IT" dirty="0"/>
              <a:t> by customers</a:t>
            </a:r>
            <a:endParaRPr lang="en-US" dirty="0"/>
          </a:p>
        </p:txBody>
      </p:sp>
      <p:pic>
        <p:nvPicPr>
          <p:cNvPr id="7" name="Picture 6">
            <a:extLst>
              <a:ext uri="{FF2B5EF4-FFF2-40B4-BE49-F238E27FC236}">
                <a16:creationId xmlns:a16="http://schemas.microsoft.com/office/drawing/2014/main" id="{31846DC0-2A20-6DF9-DE5A-1555D2E1D881}"/>
              </a:ext>
            </a:extLst>
          </p:cNvPr>
          <p:cNvPicPr>
            <a:picLocks noChangeAspect="1"/>
          </p:cNvPicPr>
          <p:nvPr/>
        </p:nvPicPr>
        <p:blipFill>
          <a:blip r:embed="rId2"/>
          <a:stretch>
            <a:fillRect/>
          </a:stretch>
        </p:blipFill>
        <p:spPr>
          <a:xfrm>
            <a:off x="452485" y="1721502"/>
            <a:ext cx="8792953" cy="4263411"/>
          </a:xfrm>
          <a:prstGeom prst="rect">
            <a:avLst/>
          </a:prstGeom>
        </p:spPr>
      </p:pic>
      <p:sp>
        <p:nvSpPr>
          <p:cNvPr id="8" name="Rectangle 1">
            <a:extLst>
              <a:ext uri="{FF2B5EF4-FFF2-40B4-BE49-F238E27FC236}">
                <a16:creationId xmlns:a16="http://schemas.microsoft.com/office/drawing/2014/main" id="{3CE34F64-285B-D5B7-40E3-8E9EEB0DE4AF}"/>
              </a:ext>
            </a:extLst>
          </p:cNvPr>
          <p:cNvSpPr>
            <a:spLocks noChangeArrowheads="1"/>
          </p:cNvSpPr>
          <p:nvPr/>
        </p:nvSpPr>
        <p:spPr bwMode="auto">
          <a:xfrm>
            <a:off x="9356302" y="2189452"/>
            <a:ext cx="2509788"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US" sz="1400" dirty="0"/>
              <a:t>The 25 to 30 age group generated the highest total negative margin of the product</a:t>
            </a:r>
          </a:p>
          <a:p>
            <a:pPr algn="just" eaLnBrk="0" fontAlgn="base" hangingPunct="0">
              <a:spcBef>
                <a:spcPct val="0"/>
              </a:spcBef>
              <a:spcAft>
                <a:spcPct val="0"/>
              </a:spcAft>
            </a:pPr>
            <a:r>
              <a:rPr kumimoji="0" lang="en-US" altLang="en-US" sz="1400" b="0" i="0" u="none" strike="noStrike" cap="none" normalizeH="0" baseline="0" dirty="0">
                <a:ln>
                  <a:noFill/>
                </a:ln>
                <a:solidFill>
                  <a:schemeClr val="tx1"/>
                </a:solidFill>
                <a:effectLst/>
                <a:cs typeface="Arial" panose="020B0604020202020204" pitchFamily="34" charset="0"/>
              </a:rPr>
              <a:t>Even though, in terms of quantity, this product was bought more by the 45 to 50 age group.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cs typeface="Arial" panose="020B0604020202020204" pitchFamily="34" charset="0"/>
              </a:rPr>
              <a:t>Women have had a greater impact on the negative margin of the product</a:t>
            </a:r>
          </a:p>
        </p:txBody>
      </p:sp>
      <p:sp>
        <p:nvSpPr>
          <p:cNvPr id="9" name="Oval 8">
            <a:extLst>
              <a:ext uri="{FF2B5EF4-FFF2-40B4-BE49-F238E27FC236}">
                <a16:creationId xmlns:a16="http://schemas.microsoft.com/office/drawing/2014/main" id="{E9269806-5E22-FD8C-73BD-A98AEC2C9377}"/>
              </a:ext>
            </a:extLst>
          </p:cNvPr>
          <p:cNvSpPr/>
          <p:nvPr/>
        </p:nvSpPr>
        <p:spPr>
          <a:xfrm>
            <a:off x="5363852" y="3563334"/>
            <a:ext cx="3271101" cy="2630737"/>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cxnSp>
        <p:nvCxnSpPr>
          <p:cNvPr id="13" name="Straight Arrow Connector 12">
            <a:extLst>
              <a:ext uri="{FF2B5EF4-FFF2-40B4-BE49-F238E27FC236}">
                <a16:creationId xmlns:a16="http://schemas.microsoft.com/office/drawing/2014/main" id="{5D3F2A4E-7EE7-070C-3364-1A91EE9CB4F7}"/>
              </a:ext>
            </a:extLst>
          </p:cNvPr>
          <p:cNvCxnSpPr/>
          <p:nvPr/>
        </p:nvCxnSpPr>
        <p:spPr>
          <a:xfrm flipH="1">
            <a:off x="5033913" y="1828802"/>
            <a:ext cx="1480009" cy="8672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08B58208-E486-9BD6-DCA4-F3AE87A70111}"/>
              </a:ext>
            </a:extLst>
          </p:cNvPr>
          <p:cNvCxnSpPr/>
          <p:nvPr/>
        </p:nvCxnSpPr>
        <p:spPr>
          <a:xfrm>
            <a:off x="8031637" y="2828043"/>
            <a:ext cx="377072" cy="50904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Slide Number Placeholder 15">
            <a:extLst>
              <a:ext uri="{FF2B5EF4-FFF2-40B4-BE49-F238E27FC236}">
                <a16:creationId xmlns:a16="http://schemas.microsoft.com/office/drawing/2014/main" id="{C8482B77-439F-9BF4-55A5-7959FF5204C0}"/>
              </a:ext>
            </a:extLst>
          </p:cNvPr>
          <p:cNvSpPr>
            <a:spLocks noGrp="1"/>
          </p:cNvSpPr>
          <p:nvPr>
            <p:ph type="sldNum" sz="quarter" idx="4"/>
          </p:nvPr>
        </p:nvSpPr>
        <p:spPr/>
        <p:txBody>
          <a:bodyPr/>
          <a:lstStyle/>
          <a:p>
            <a:fld id="{9860EDB8-5305-433F-BE41-D7A86D811DB3}" type="slidenum">
              <a:rPr lang="en-US" smtClean="0"/>
              <a:pPr/>
              <a:t>22</a:t>
            </a:fld>
            <a:endParaRPr lang="en-US" dirty="0"/>
          </a:p>
        </p:txBody>
      </p:sp>
    </p:spTree>
    <p:extLst>
      <p:ext uri="{BB962C8B-B14F-4D97-AF65-F5344CB8AC3E}">
        <p14:creationId xmlns:p14="http://schemas.microsoft.com/office/powerpoint/2010/main" val="3749080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1B4F9-40AC-EDF4-996B-20135C2D0192}"/>
              </a:ext>
            </a:extLst>
          </p:cNvPr>
          <p:cNvSpPr>
            <a:spLocks noGrp="1"/>
          </p:cNvSpPr>
          <p:nvPr>
            <p:ph type="title"/>
          </p:nvPr>
        </p:nvSpPr>
        <p:spPr/>
        <p:txBody>
          <a:bodyPr/>
          <a:lstStyle/>
          <a:p>
            <a:r>
              <a:rPr lang="it-IT" b="1" dirty="0">
                <a:solidFill>
                  <a:srgbClr val="C00000"/>
                </a:solidFill>
              </a:rPr>
              <a:t>5. </a:t>
            </a:r>
            <a:r>
              <a:rPr lang="it-IT" dirty="0" err="1"/>
              <a:t>ORWPM4</a:t>
            </a:r>
            <a:r>
              <a:rPr lang="it-IT" dirty="0"/>
              <a:t> by 25-30 group Age</a:t>
            </a:r>
            <a:endParaRPr lang="en-US" dirty="0"/>
          </a:p>
        </p:txBody>
      </p:sp>
      <p:pic>
        <p:nvPicPr>
          <p:cNvPr id="5" name="Picture 4">
            <a:extLst>
              <a:ext uri="{FF2B5EF4-FFF2-40B4-BE49-F238E27FC236}">
                <a16:creationId xmlns:a16="http://schemas.microsoft.com/office/drawing/2014/main" id="{E03A23F7-8FEA-168B-A013-E8B493F6EF5F}"/>
              </a:ext>
            </a:extLst>
          </p:cNvPr>
          <p:cNvPicPr>
            <a:picLocks noChangeAspect="1"/>
          </p:cNvPicPr>
          <p:nvPr/>
        </p:nvPicPr>
        <p:blipFill>
          <a:blip r:embed="rId2"/>
          <a:stretch>
            <a:fillRect/>
          </a:stretch>
        </p:blipFill>
        <p:spPr>
          <a:xfrm>
            <a:off x="377072" y="1342751"/>
            <a:ext cx="9125146" cy="4382069"/>
          </a:xfrm>
          <a:prstGeom prst="rect">
            <a:avLst/>
          </a:prstGeom>
        </p:spPr>
      </p:pic>
      <p:sp>
        <p:nvSpPr>
          <p:cNvPr id="7" name="TextBox 6">
            <a:extLst>
              <a:ext uri="{FF2B5EF4-FFF2-40B4-BE49-F238E27FC236}">
                <a16:creationId xmlns:a16="http://schemas.microsoft.com/office/drawing/2014/main" id="{E7D062B8-BDA7-FF70-41A7-599A074ED0F9}"/>
              </a:ext>
            </a:extLst>
          </p:cNvPr>
          <p:cNvSpPr txBox="1"/>
          <p:nvPr/>
        </p:nvSpPr>
        <p:spPr>
          <a:xfrm>
            <a:off x="9502218" y="1342751"/>
            <a:ext cx="2392051" cy="4401205"/>
          </a:xfrm>
          <a:prstGeom prst="rect">
            <a:avLst/>
          </a:prstGeom>
          <a:noFill/>
        </p:spPr>
        <p:txBody>
          <a:bodyPr wrap="square">
            <a:spAutoFit/>
          </a:bodyPr>
          <a:lstStyle/>
          <a:p>
            <a:pPr algn="just"/>
            <a:r>
              <a:rPr lang="en-US" sz="1400" dirty="0"/>
              <a:t>However, when filtering by both product and the 25-30 age group, it is the males who have contributed the most to the negative margin in this age range.</a:t>
            </a:r>
          </a:p>
          <a:p>
            <a:pPr algn="just"/>
            <a:endParaRPr lang="en-US" sz="1400" dirty="0"/>
          </a:p>
          <a:p>
            <a:pPr algn="just"/>
            <a:endParaRPr lang="en-US" sz="1400" dirty="0"/>
          </a:p>
          <a:p>
            <a:pPr algn="just"/>
            <a:r>
              <a:rPr lang="en-US" sz="1400" i="1" dirty="0"/>
              <a:t>(Additionally, it is evident that another product has generated a greater negative margin in this age group.)</a:t>
            </a:r>
          </a:p>
          <a:p>
            <a:pPr algn="just"/>
            <a:endParaRPr lang="en-US" sz="1400" dirty="0"/>
          </a:p>
          <a:p>
            <a:pPr algn="just"/>
            <a:r>
              <a:rPr lang="en-US" sz="1400" b="1" dirty="0">
                <a:solidFill>
                  <a:schemeClr val="accent1"/>
                </a:solidFill>
              </a:rPr>
              <a:t>In the next slide, it can be seen how the male customers in the 25-30 age group who purchased </a:t>
            </a:r>
            <a:r>
              <a:rPr lang="it-IT" sz="1400" b="1" dirty="0" err="1">
                <a:solidFill>
                  <a:schemeClr val="accent1"/>
                </a:solidFill>
              </a:rPr>
              <a:t>ORWPM4</a:t>
            </a:r>
            <a:r>
              <a:rPr lang="it-IT" sz="1400" b="1" dirty="0">
                <a:solidFill>
                  <a:schemeClr val="accent1"/>
                </a:solidFill>
              </a:rPr>
              <a:t> </a:t>
            </a:r>
            <a:r>
              <a:rPr lang="en-US" sz="1400" b="1" dirty="0">
                <a:solidFill>
                  <a:schemeClr val="accent1"/>
                </a:solidFill>
              </a:rPr>
              <a:t>have influenced the margin</a:t>
            </a:r>
            <a:r>
              <a:rPr lang="en-US" sz="1400" dirty="0"/>
              <a:t>.</a:t>
            </a:r>
          </a:p>
        </p:txBody>
      </p:sp>
      <p:sp>
        <p:nvSpPr>
          <p:cNvPr id="8" name="Oval 7">
            <a:extLst>
              <a:ext uri="{FF2B5EF4-FFF2-40B4-BE49-F238E27FC236}">
                <a16:creationId xmlns:a16="http://schemas.microsoft.com/office/drawing/2014/main" id="{CFDA1BED-6ED8-3EAB-0365-4831F3A77118}"/>
              </a:ext>
            </a:extLst>
          </p:cNvPr>
          <p:cNvSpPr/>
          <p:nvPr/>
        </p:nvSpPr>
        <p:spPr>
          <a:xfrm>
            <a:off x="5533534" y="3348698"/>
            <a:ext cx="3271101" cy="2630737"/>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7C70E972-07CF-19F5-2D34-018B8A6DEB94}"/>
              </a:ext>
            </a:extLst>
          </p:cNvPr>
          <p:cNvCxnSpPr/>
          <p:nvPr/>
        </p:nvCxnSpPr>
        <p:spPr>
          <a:xfrm flipH="1">
            <a:off x="5203596" y="2092751"/>
            <a:ext cx="103695" cy="6315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Slide Number Placeholder 10">
            <a:extLst>
              <a:ext uri="{FF2B5EF4-FFF2-40B4-BE49-F238E27FC236}">
                <a16:creationId xmlns:a16="http://schemas.microsoft.com/office/drawing/2014/main" id="{F62AD390-4338-24BB-A560-95AA98B94D2F}"/>
              </a:ext>
            </a:extLst>
          </p:cNvPr>
          <p:cNvSpPr>
            <a:spLocks noGrp="1"/>
          </p:cNvSpPr>
          <p:nvPr>
            <p:ph type="sldNum" sz="quarter" idx="4"/>
          </p:nvPr>
        </p:nvSpPr>
        <p:spPr/>
        <p:txBody>
          <a:bodyPr/>
          <a:lstStyle/>
          <a:p>
            <a:fld id="{9860EDB8-5305-433F-BE41-D7A86D811DB3}" type="slidenum">
              <a:rPr lang="en-US" smtClean="0"/>
              <a:pPr/>
              <a:t>23</a:t>
            </a:fld>
            <a:endParaRPr lang="en-US" dirty="0"/>
          </a:p>
        </p:txBody>
      </p:sp>
    </p:spTree>
    <p:extLst>
      <p:ext uri="{BB962C8B-B14F-4D97-AF65-F5344CB8AC3E}">
        <p14:creationId xmlns:p14="http://schemas.microsoft.com/office/powerpoint/2010/main" val="358385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6713-CB03-A439-08D8-C36B9A3AE071}"/>
              </a:ext>
            </a:extLst>
          </p:cNvPr>
          <p:cNvSpPr>
            <a:spLocks noGrp="1"/>
          </p:cNvSpPr>
          <p:nvPr>
            <p:ph type="title"/>
          </p:nvPr>
        </p:nvSpPr>
        <p:spPr/>
        <p:txBody>
          <a:bodyPr>
            <a:normAutofit/>
          </a:bodyPr>
          <a:lstStyle/>
          <a:p>
            <a:r>
              <a:rPr lang="it-IT" b="1" dirty="0">
                <a:solidFill>
                  <a:srgbClr val="C00000"/>
                </a:solidFill>
              </a:rPr>
              <a:t>5. </a:t>
            </a:r>
            <a:r>
              <a:rPr lang="it-IT" dirty="0" err="1"/>
              <a:t>ORWPM4</a:t>
            </a:r>
            <a:r>
              <a:rPr lang="it-IT" dirty="0"/>
              <a:t> by 25-30 Group age by Male </a:t>
            </a:r>
            <a:endParaRPr lang="en-US" dirty="0"/>
          </a:p>
        </p:txBody>
      </p:sp>
      <p:pic>
        <p:nvPicPr>
          <p:cNvPr id="7" name="Picture 6">
            <a:extLst>
              <a:ext uri="{FF2B5EF4-FFF2-40B4-BE49-F238E27FC236}">
                <a16:creationId xmlns:a16="http://schemas.microsoft.com/office/drawing/2014/main" id="{FFA92DDC-841A-BEBC-8393-B5CC70E75137}"/>
              </a:ext>
            </a:extLst>
          </p:cNvPr>
          <p:cNvPicPr>
            <a:picLocks noChangeAspect="1"/>
          </p:cNvPicPr>
          <p:nvPr/>
        </p:nvPicPr>
        <p:blipFill>
          <a:blip r:embed="rId2"/>
          <a:stretch>
            <a:fillRect/>
          </a:stretch>
        </p:blipFill>
        <p:spPr>
          <a:xfrm>
            <a:off x="624902" y="1495687"/>
            <a:ext cx="9131088" cy="4348931"/>
          </a:xfrm>
          <a:prstGeom prst="rect">
            <a:avLst/>
          </a:prstGeom>
        </p:spPr>
      </p:pic>
      <p:sp>
        <p:nvSpPr>
          <p:cNvPr id="8" name="Slide Number Placeholder 7">
            <a:extLst>
              <a:ext uri="{FF2B5EF4-FFF2-40B4-BE49-F238E27FC236}">
                <a16:creationId xmlns:a16="http://schemas.microsoft.com/office/drawing/2014/main" id="{9A67E7BD-1E8F-5C27-2F22-8B89B3F197FB}"/>
              </a:ext>
            </a:extLst>
          </p:cNvPr>
          <p:cNvSpPr>
            <a:spLocks noGrp="1"/>
          </p:cNvSpPr>
          <p:nvPr>
            <p:ph type="sldNum" sz="quarter" idx="4"/>
          </p:nvPr>
        </p:nvSpPr>
        <p:spPr/>
        <p:txBody>
          <a:bodyPr/>
          <a:lstStyle/>
          <a:p>
            <a:fld id="{9860EDB8-5305-433F-BE41-D7A86D811DB3}" type="slidenum">
              <a:rPr lang="en-US" smtClean="0"/>
              <a:pPr/>
              <a:t>24</a:t>
            </a:fld>
            <a:endParaRPr lang="en-US" dirty="0"/>
          </a:p>
        </p:txBody>
      </p:sp>
    </p:spTree>
    <p:extLst>
      <p:ext uri="{BB962C8B-B14F-4D97-AF65-F5344CB8AC3E}">
        <p14:creationId xmlns:p14="http://schemas.microsoft.com/office/powerpoint/2010/main" val="2359098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A0045-4855-1676-D57E-E17D96A757D7}"/>
              </a:ext>
            </a:extLst>
          </p:cNvPr>
          <p:cNvSpPr>
            <a:spLocks noGrp="1"/>
          </p:cNvSpPr>
          <p:nvPr>
            <p:ph type="title"/>
          </p:nvPr>
        </p:nvSpPr>
        <p:spPr/>
        <p:txBody>
          <a:bodyPr>
            <a:normAutofit/>
          </a:bodyPr>
          <a:lstStyle/>
          <a:p>
            <a:r>
              <a:rPr lang="it-IT" b="1" dirty="0">
                <a:solidFill>
                  <a:srgbClr val="C00000"/>
                </a:solidFill>
              </a:rPr>
              <a:t>5. </a:t>
            </a:r>
            <a:r>
              <a:rPr lang="it-IT" dirty="0"/>
              <a:t>Age Group across </a:t>
            </a:r>
            <a:r>
              <a:rPr lang="it-IT" dirty="0" err="1"/>
              <a:t>all</a:t>
            </a:r>
            <a:r>
              <a:rPr lang="it-IT" dirty="0"/>
              <a:t> products</a:t>
            </a:r>
            <a:endParaRPr lang="en-US" dirty="0"/>
          </a:p>
        </p:txBody>
      </p:sp>
      <p:pic>
        <p:nvPicPr>
          <p:cNvPr id="7" name="Picture 6">
            <a:extLst>
              <a:ext uri="{FF2B5EF4-FFF2-40B4-BE49-F238E27FC236}">
                <a16:creationId xmlns:a16="http://schemas.microsoft.com/office/drawing/2014/main" id="{B94FACA6-9371-723E-D072-DF1E961D2175}"/>
              </a:ext>
            </a:extLst>
          </p:cNvPr>
          <p:cNvPicPr>
            <a:picLocks noChangeAspect="1"/>
          </p:cNvPicPr>
          <p:nvPr/>
        </p:nvPicPr>
        <p:blipFill>
          <a:blip r:embed="rId2"/>
          <a:stretch>
            <a:fillRect/>
          </a:stretch>
        </p:blipFill>
        <p:spPr>
          <a:xfrm>
            <a:off x="521207" y="1392098"/>
            <a:ext cx="7296150" cy="3838575"/>
          </a:xfrm>
          <a:prstGeom prst="rect">
            <a:avLst/>
          </a:prstGeom>
        </p:spPr>
      </p:pic>
      <p:sp>
        <p:nvSpPr>
          <p:cNvPr id="9" name="TextBox 8">
            <a:extLst>
              <a:ext uri="{FF2B5EF4-FFF2-40B4-BE49-F238E27FC236}">
                <a16:creationId xmlns:a16="http://schemas.microsoft.com/office/drawing/2014/main" id="{775D3CE6-0796-B25E-C3A0-FE38BD10163F}"/>
              </a:ext>
            </a:extLst>
          </p:cNvPr>
          <p:cNvSpPr txBox="1"/>
          <p:nvPr/>
        </p:nvSpPr>
        <p:spPr>
          <a:xfrm>
            <a:off x="8237311" y="1392098"/>
            <a:ext cx="3046573" cy="2708434"/>
          </a:xfrm>
          <a:prstGeom prst="rect">
            <a:avLst/>
          </a:prstGeom>
          <a:noFill/>
        </p:spPr>
        <p:txBody>
          <a:bodyPr wrap="square">
            <a:spAutoFit/>
          </a:bodyPr>
          <a:lstStyle/>
          <a:p>
            <a:r>
              <a:rPr lang="en-US" dirty="0"/>
              <a:t>In general women and men have similar </a:t>
            </a:r>
            <a:r>
              <a:rPr lang="en-US" dirty="0" err="1"/>
              <a:t>behaviour</a:t>
            </a:r>
            <a:r>
              <a:rPr lang="en-US" dirty="0"/>
              <a:t> but considering the age group </a:t>
            </a:r>
            <a:r>
              <a:rPr lang="en-US" b="1" dirty="0">
                <a:solidFill>
                  <a:srgbClr val="FF0000"/>
                </a:solidFill>
              </a:rPr>
              <a:t>&gt;=50</a:t>
            </a:r>
          </a:p>
          <a:p>
            <a:endParaRPr lang="en-US" b="1" dirty="0">
              <a:solidFill>
                <a:srgbClr val="FF0000"/>
              </a:solidFill>
            </a:endParaRPr>
          </a:p>
          <a:p>
            <a:r>
              <a:rPr lang="en-US" sz="1600" b="1" dirty="0">
                <a:solidFill>
                  <a:srgbClr val="FF0000"/>
                </a:solidFill>
              </a:rPr>
              <a:t>1. </a:t>
            </a:r>
            <a:r>
              <a:rPr lang="en-US" sz="1600" dirty="0"/>
              <a:t>women contribute the most to the negative sales margin</a:t>
            </a:r>
          </a:p>
          <a:p>
            <a:r>
              <a:rPr lang="en-US" sz="1600" b="1" dirty="0">
                <a:solidFill>
                  <a:srgbClr val="FF0000"/>
                </a:solidFill>
              </a:rPr>
              <a:t>2. </a:t>
            </a:r>
            <a:r>
              <a:rPr lang="en-US" sz="1600" dirty="0"/>
              <a:t>purchasing a higher percentage of products compared to men</a:t>
            </a:r>
          </a:p>
        </p:txBody>
      </p:sp>
      <p:pic>
        <p:nvPicPr>
          <p:cNvPr id="11" name="Picture 10">
            <a:extLst>
              <a:ext uri="{FF2B5EF4-FFF2-40B4-BE49-F238E27FC236}">
                <a16:creationId xmlns:a16="http://schemas.microsoft.com/office/drawing/2014/main" id="{E10DB01D-4DB5-DBD0-CE06-946436CAFD25}"/>
              </a:ext>
            </a:extLst>
          </p:cNvPr>
          <p:cNvPicPr>
            <a:picLocks noChangeAspect="1"/>
          </p:cNvPicPr>
          <p:nvPr/>
        </p:nvPicPr>
        <p:blipFill>
          <a:blip r:embed="rId3"/>
          <a:stretch>
            <a:fillRect/>
          </a:stretch>
        </p:blipFill>
        <p:spPr>
          <a:xfrm>
            <a:off x="8237311" y="4233808"/>
            <a:ext cx="2160453" cy="1993730"/>
          </a:xfrm>
          <a:prstGeom prst="rect">
            <a:avLst/>
          </a:prstGeom>
        </p:spPr>
      </p:pic>
      <p:sp>
        <p:nvSpPr>
          <p:cNvPr id="12" name="Slide Number Placeholder 11">
            <a:extLst>
              <a:ext uri="{FF2B5EF4-FFF2-40B4-BE49-F238E27FC236}">
                <a16:creationId xmlns:a16="http://schemas.microsoft.com/office/drawing/2014/main" id="{9D875C6B-0CE7-597B-4038-A02939CD377A}"/>
              </a:ext>
            </a:extLst>
          </p:cNvPr>
          <p:cNvSpPr>
            <a:spLocks noGrp="1"/>
          </p:cNvSpPr>
          <p:nvPr>
            <p:ph type="sldNum" sz="quarter" idx="4"/>
          </p:nvPr>
        </p:nvSpPr>
        <p:spPr/>
        <p:txBody>
          <a:bodyPr/>
          <a:lstStyle/>
          <a:p>
            <a:fld id="{9860EDB8-5305-433F-BE41-D7A86D811DB3}" type="slidenum">
              <a:rPr lang="en-US" smtClean="0"/>
              <a:pPr/>
              <a:t>25</a:t>
            </a:fld>
            <a:endParaRPr lang="en-US" dirty="0"/>
          </a:p>
        </p:txBody>
      </p:sp>
    </p:spTree>
    <p:extLst>
      <p:ext uri="{BB962C8B-B14F-4D97-AF65-F5344CB8AC3E}">
        <p14:creationId xmlns:p14="http://schemas.microsoft.com/office/powerpoint/2010/main" val="4274260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50CF-C9E0-0CE0-7F8A-0D237FCADE03}"/>
              </a:ext>
            </a:extLst>
          </p:cNvPr>
          <p:cNvSpPr>
            <a:spLocks noGrp="1"/>
          </p:cNvSpPr>
          <p:nvPr>
            <p:ph type="title"/>
          </p:nvPr>
        </p:nvSpPr>
        <p:spPr/>
        <p:txBody>
          <a:bodyPr>
            <a:normAutofit/>
          </a:bodyPr>
          <a:lstStyle/>
          <a:p>
            <a:r>
              <a:rPr lang="it-IT" b="1" dirty="0">
                <a:solidFill>
                  <a:srgbClr val="C00000"/>
                </a:solidFill>
              </a:rPr>
              <a:t>6. </a:t>
            </a:r>
            <a:r>
              <a:rPr lang="it-IT" dirty="0" err="1"/>
              <a:t>Conclusion</a:t>
            </a:r>
            <a:endParaRPr lang="en-US" dirty="0"/>
          </a:p>
        </p:txBody>
      </p:sp>
      <p:sp>
        <p:nvSpPr>
          <p:cNvPr id="3" name="Content Placeholder 2">
            <a:extLst>
              <a:ext uri="{FF2B5EF4-FFF2-40B4-BE49-F238E27FC236}">
                <a16:creationId xmlns:a16="http://schemas.microsoft.com/office/drawing/2014/main" id="{9C7B8F64-8633-F131-619F-38722B92EEFA}"/>
              </a:ext>
            </a:extLst>
          </p:cNvPr>
          <p:cNvSpPr>
            <a:spLocks noGrp="1"/>
          </p:cNvSpPr>
          <p:nvPr>
            <p:ph sz="quarter" idx="10"/>
          </p:nvPr>
        </p:nvSpPr>
        <p:spPr>
          <a:xfrm>
            <a:off x="539496" y="1435608"/>
            <a:ext cx="10763242" cy="3977640"/>
          </a:xfrm>
        </p:spPr>
        <p:txBody>
          <a:bodyPr>
            <a:normAutofit fontScale="85000" lnSpcReduction="10000"/>
          </a:bodyPr>
          <a:lstStyle/>
          <a:p>
            <a:pPr algn="just"/>
            <a:r>
              <a:rPr lang="en-US" sz="1700" dirty="0">
                <a:solidFill>
                  <a:schemeClr val="tx1"/>
                </a:solidFill>
              </a:rPr>
              <a:t>The analysis focused on identifying the causes of margin reduction.</a:t>
            </a:r>
          </a:p>
          <a:p>
            <a:pPr marL="285750" indent="-285750" algn="just">
              <a:buFont typeface="Arial" panose="020B0604020202020204" pitchFamily="34" charset="0"/>
              <a:buChar char="•"/>
            </a:pPr>
            <a:r>
              <a:rPr lang="en-US" sz="1400" dirty="0">
                <a:solidFill>
                  <a:schemeClr val="tx1"/>
                </a:solidFill>
              </a:rPr>
              <a:t> First, </a:t>
            </a:r>
            <a:r>
              <a:rPr lang="en-US" sz="1400" b="1" dirty="0">
                <a:solidFill>
                  <a:schemeClr val="tx1"/>
                </a:solidFill>
              </a:rPr>
              <a:t>products with the highest positive total margin </a:t>
            </a:r>
            <a:r>
              <a:rPr lang="en-US" sz="1400" dirty="0">
                <a:solidFill>
                  <a:schemeClr val="tx1"/>
                </a:solidFill>
              </a:rPr>
              <a:t>were examined, with sales limited to 2006 and low quantities sold, showing only a high weighted margin per unit.</a:t>
            </a:r>
          </a:p>
          <a:p>
            <a:pPr marL="285750" indent="-285750" algn="just">
              <a:buFont typeface="Arial" panose="020B0604020202020204" pitchFamily="34" charset="0"/>
              <a:buChar char="•"/>
            </a:pPr>
            <a:r>
              <a:rPr lang="en-US" sz="1400" dirty="0">
                <a:solidFill>
                  <a:schemeClr val="tx1"/>
                </a:solidFill>
              </a:rPr>
              <a:t>Next, the most purchased </a:t>
            </a:r>
            <a:r>
              <a:rPr lang="en-US" sz="1400" b="1" dirty="0">
                <a:solidFill>
                  <a:schemeClr val="tx1"/>
                </a:solidFill>
              </a:rPr>
              <a:t>products by distinct customers </a:t>
            </a:r>
            <a:r>
              <a:rPr lang="en-US" sz="1400" dirty="0">
                <a:solidFill>
                  <a:schemeClr val="tx1"/>
                </a:solidFill>
              </a:rPr>
              <a:t>were analyzed, revealing some with a zero margin despite positive quantities sold.</a:t>
            </a:r>
          </a:p>
          <a:p>
            <a:pPr marL="285750" indent="-285750" algn="just">
              <a:buFont typeface="Arial" panose="020B0604020202020204" pitchFamily="34" charset="0"/>
              <a:buChar char="•"/>
            </a:pPr>
            <a:r>
              <a:rPr lang="en-US" sz="1400" dirty="0">
                <a:solidFill>
                  <a:schemeClr val="tx1"/>
                </a:solidFill>
              </a:rPr>
              <a:t>The analysis shifted to </a:t>
            </a:r>
            <a:r>
              <a:rPr lang="en-US" sz="1400" b="1" dirty="0">
                <a:solidFill>
                  <a:schemeClr val="tx1"/>
                </a:solidFill>
              </a:rPr>
              <a:t>stores</a:t>
            </a:r>
            <a:r>
              <a:rPr lang="en-US" sz="1400" dirty="0">
                <a:solidFill>
                  <a:schemeClr val="tx1"/>
                </a:solidFill>
              </a:rPr>
              <a:t>, investigating whether a common product was contributing to the margin decrease. Once one of the potential product was identified, the store with the lowest negative margin for that product was found, and the cashier responsible for the lowest margin at that store was analyzed.</a:t>
            </a:r>
          </a:p>
          <a:p>
            <a:pPr marL="285750" indent="-285750" algn="just">
              <a:buFont typeface="Arial" panose="020B0604020202020204" pitchFamily="34" charset="0"/>
              <a:buChar char="•"/>
            </a:pPr>
            <a:r>
              <a:rPr lang="en-US" sz="1400" dirty="0">
                <a:solidFill>
                  <a:schemeClr val="tx1"/>
                </a:solidFill>
              </a:rPr>
              <a:t>Then, the focus moved to the customers of </a:t>
            </a:r>
            <a:r>
              <a:rPr lang="en-US" sz="1400" b="1" dirty="0">
                <a:solidFill>
                  <a:schemeClr val="tx1"/>
                </a:solidFill>
              </a:rPr>
              <a:t>that product</a:t>
            </a:r>
            <a:r>
              <a:rPr lang="en-US" sz="1400" dirty="0">
                <a:solidFill>
                  <a:schemeClr val="tx1"/>
                </a:solidFill>
              </a:rPr>
              <a:t>, exploring correlations with </a:t>
            </a:r>
            <a:r>
              <a:rPr lang="en-US" sz="1400" b="1" dirty="0">
                <a:solidFill>
                  <a:schemeClr val="tx1"/>
                </a:solidFill>
              </a:rPr>
              <a:t>Civility</a:t>
            </a:r>
            <a:r>
              <a:rPr lang="en-US" sz="1400" dirty="0">
                <a:solidFill>
                  <a:schemeClr val="tx1"/>
                </a:solidFill>
              </a:rPr>
              <a:t> and </a:t>
            </a:r>
            <a:r>
              <a:rPr lang="en-US" sz="1400" b="1" dirty="0">
                <a:solidFill>
                  <a:schemeClr val="tx1"/>
                </a:solidFill>
              </a:rPr>
              <a:t>Age Group</a:t>
            </a:r>
            <a:r>
              <a:rPr lang="en-US" sz="1400" dirty="0">
                <a:solidFill>
                  <a:schemeClr val="tx1"/>
                </a:solidFill>
              </a:rPr>
              <a:t>. It was found that women contributed the most to the lowest margin of the product, and the 25-30 age group had the </a:t>
            </a:r>
            <a:r>
              <a:rPr lang="en-US" sz="1400">
                <a:solidFill>
                  <a:schemeClr val="tx1"/>
                </a:solidFill>
              </a:rPr>
              <a:t>lowest margin (</a:t>
            </a:r>
            <a:r>
              <a:rPr lang="en-US" sz="1400" dirty="0">
                <a:solidFill>
                  <a:schemeClr val="tx1"/>
                </a:solidFill>
              </a:rPr>
              <a:t>of </a:t>
            </a:r>
            <a:r>
              <a:rPr lang="en-US" sz="1400">
                <a:solidFill>
                  <a:schemeClr val="tx1"/>
                </a:solidFill>
              </a:rPr>
              <a:t>the product). </a:t>
            </a:r>
            <a:r>
              <a:rPr lang="en-US" sz="1400" dirty="0">
                <a:solidFill>
                  <a:schemeClr val="tx1"/>
                </a:solidFill>
              </a:rPr>
              <a:t>However, when analyzing the 25-30 age group for this product, it was the men who caused the lowest margin.</a:t>
            </a:r>
          </a:p>
          <a:p>
            <a:pPr algn="just"/>
            <a:endParaRPr lang="en-US" dirty="0"/>
          </a:p>
        </p:txBody>
      </p:sp>
      <p:sp>
        <p:nvSpPr>
          <p:cNvPr id="5" name="TextBox 4">
            <a:extLst>
              <a:ext uri="{FF2B5EF4-FFF2-40B4-BE49-F238E27FC236}">
                <a16:creationId xmlns:a16="http://schemas.microsoft.com/office/drawing/2014/main" id="{D3BA083A-9845-7120-9D03-F6EBBADBFD55}"/>
              </a:ext>
            </a:extLst>
          </p:cNvPr>
          <p:cNvSpPr txBox="1"/>
          <p:nvPr/>
        </p:nvSpPr>
        <p:spPr>
          <a:xfrm>
            <a:off x="587604" y="5413248"/>
            <a:ext cx="10941377" cy="646331"/>
          </a:xfrm>
          <a:prstGeom prst="rect">
            <a:avLst/>
          </a:prstGeom>
          <a:noFill/>
        </p:spPr>
        <p:txBody>
          <a:bodyPr wrap="square">
            <a:spAutoFit/>
          </a:bodyPr>
          <a:lstStyle/>
          <a:p>
            <a:r>
              <a:rPr lang="en-US" dirty="0"/>
              <a:t>This analysis highlights the key factors across products, stores, and customers that could have contributed to the reduction in margin over time</a:t>
            </a:r>
          </a:p>
        </p:txBody>
      </p:sp>
      <p:sp>
        <p:nvSpPr>
          <p:cNvPr id="6" name="Slide Number Placeholder 5">
            <a:extLst>
              <a:ext uri="{FF2B5EF4-FFF2-40B4-BE49-F238E27FC236}">
                <a16:creationId xmlns:a16="http://schemas.microsoft.com/office/drawing/2014/main" id="{53DD3DC4-F787-0216-4F6B-98455EBF07FA}"/>
              </a:ext>
            </a:extLst>
          </p:cNvPr>
          <p:cNvSpPr>
            <a:spLocks noGrp="1"/>
          </p:cNvSpPr>
          <p:nvPr>
            <p:ph type="sldNum" sz="quarter" idx="4"/>
          </p:nvPr>
        </p:nvSpPr>
        <p:spPr/>
        <p:txBody>
          <a:bodyPr/>
          <a:lstStyle/>
          <a:p>
            <a:fld id="{9860EDB8-5305-433F-BE41-D7A86D811DB3}" type="slidenum">
              <a:rPr lang="en-US" smtClean="0"/>
              <a:pPr/>
              <a:t>26</a:t>
            </a:fld>
            <a:endParaRPr lang="en-US" dirty="0"/>
          </a:p>
        </p:txBody>
      </p:sp>
    </p:spTree>
    <p:extLst>
      <p:ext uri="{BB962C8B-B14F-4D97-AF65-F5344CB8AC3E}">
        <p14:creationId xmlns:p14="http://schemas.microsoft.com/office/powerpoint/2010/main" val="1497331343"/>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{1E28E9F0-E861-47D2-B918-FBC0C0805DCA}tf10001108_win32</Template>
  <TotalTime>1290</TotalTime>
  <Words>1918</Words>
  <Application>Microsoft Office PowerPoint</Application>
  <PresentationFormat>Widescreen</PresentationFormat>
  <Paragraphs>236</Paragraphs>
  <Slides>26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Cambria Math</vt:lpstr>
      <vt:lpstr>Segoe UI</vt:lpstr>
      <vt:lpstr>Segoe UI Light</vt:lpstr>
      <vt:lpstr>Segoe UI Semibold</vt:lpstr>
      <vt:lpstr>Custom</vt:lpstr>
      <vt:lpstr>     BI1-Project </vt:lpstr>
      <vt:lpstr>Introduction</vt:lpstr>
      <vt:lpstr>1. Join Reasons</vt:lpstr>
      <vt:lpstr>2. Reduce unit_tickets table</vt:lpstr>
      <vt:lpstr>3. Goal</vt:lpstr>
      <vt:lpstr>3. Dashboards </vt:lpstr>
      <vt:lpstr>4. Introduction to the Indicators</vt:lpstr>
      <vt:lpstr>4.1. Key Indicators</vt:lpstr>
      <vt:lpstr>4.2. Products and Stores Indicators</vt:lpstr>
      <vt:lpstr>4.2. Product Indicator: Treemap</vt:lpstr>
      <vt:lpstr>4.2. Store Indicators</vt:lpstr>
      <vt:lpstr>4.3. Customer Indicators</vt:lpstr>
      <vt:lpstr>5. General Consideration for the analysis</vt:lpstr>
      <vt:lpstr>5. Analysis of Products with the Highest Positive Margin</vt:lpstr>
      <vt:lpstr>5. Analysis of Products with the Highest Positive Margin</vt:lpstr>
      <vt:lpstr>5. Analysis of the Most Popular Products Among Customers</vt:lpstr>
      <vt:lpstr>5. Analysis of the Most Popular Products Among Customers</vt:lpstr>
      <vt:lpstr>5. Store Analysis: Identifying the Product Behind Margin Reduction</vt:lpstr>
      <vt:lpstr>5. Example of the impact of ORPWPM4 in a Store</vt:lpstr>
      <vt:lpstr>5. ORPWM4 across the stores</vt:lpstr>
      <vt:lpstr>5. And the cashiers?</vt:lpstr>
      <vt:lpstr>5. ORWPM4 by customers</vt:lpstr>
      <vt:lpstr>5. ORWPM4 by 25-30 group Age</vt:lpstr>
      <vt:lpstr>5. ORWPM4 by 25-30 Group age by Male </vt:lpstr>
      <vt:lpstr>5. Age Group across all products</vt:lpstr>
      <vt:lpstr>6.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Giulia Rossi</dc:creator>
  <cp:keywords/>
  <cp:lastModifiedBy>Giulia Rossi</cp:lastModifiedBy>
  <cp:revision>202</cp:revision>
  <dcterms:created xsi:type="dcterms:W3CDTF">2025-02-26T15:55:13Z</dcterms:created>
  <dcterms:modified xsi:type="dcterms:W3CDTF">2025-02-28T07:24:54Z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